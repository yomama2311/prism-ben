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6576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1828800"/>
            <a:ext cx="10972800" cy="2286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7200" b="1">
                <a:solidFill>
                  <a:srgbClr val="1F4E79"/>
                </a:solidFill>
              </a:rPr>
              <a:t>PRISM</a:t>
            </a:r>
          </a:p>
          <a:p>
            <a:r>
              <a:rPr sz="2800" i="1">
                <a:solidFill>
                  <a:srgbClr val="5B6770"/>
                </a:solidFill>
              </a:rPr>
              <a:t>PRior-guided Imagination Sampling in world Models</a:t>
            </a:r>
          </a:p>
          <a:p>
            <a:r>
              <a:rPr sz="2000">
                <a:solidFill>
                  <a:srgbClr val="777777"/>
                </a:solidFill>
              </a:rPr>
              <a:t>Closed-form Product-of-Gaussians fusion of a learned action prior into MPPI</a:t>
            </a:r>
          </a:p>
          <a:p>
            <a:pPr>
              <a:spcBef>
                <a:spcPts val="4000"/>
              </a:spcBef>
            </a:pPr>
            <a:r>
              <a:rPr sz="1600">
                <a:solidFill>
                  <a:srgbClr val="222222"/>
                </a:solidFill>
              </a:rPr>
              <a:t>Yuhai Wang  •  Northeastern University  •  2026-05-06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28600"/>
            <a:ext cx="1152144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800" b="1" i="0">
                <a:solidFill>
                  <a:srgbClr val="1F4E79"/>
                </a:solidFill>
                <a:latin typeface="Calibri"/>
              </a:rPr>
              <a:t>Outline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371600"/>
            <a:ext cx="1133856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000">
                <a:solidFill>
                  <a:srgbClr val="222222"/>
                </a:solidFill>
                <a:latin typeface="Calibri"/>
              </a:rPr>
              <a:t>• Introduction — what's the upstream question in MBRL planning?</a:t>
            </a:r>
          </a:p>
          <a:p>
            <a:pPr>
              <a:spcAft>
                <a:spcPts val="600"/>
              </a:spcAft>
            </a:pPr>
            <a:r>
              <a:rPr sz="2000">
                <a:solidFill>
                  <a:srgbClr val="222222"/>
                </a:solidFill>
                <a:latin typeface="Calibri"/>
              </a:rPr>
              <a:t>• Related work — world models, sampling-based MPC, action priors</a:t>
            </a:r>
          </a:p>
          <a:p>
            <a:pPr>
              <a:spcAft>
                <a:spcPts val="600"/>
              </a:spcAft>
            </a:pPr>
            <a:r>
              <a:rPr sz="2000">
                <a:solidFill>
                  <a:srgbClr val="222222"/>
                </a:solidFill>
                <a:latin typeface="Calibri"/>
              </a:rPr>
              <a:t>• Method — JEPA + MPPI + learned MLP prior + PoG fusion</a:t>
            </a:r>
          </a:p>
          <a:p>
            <a:pPr>
              <a:spcAft>
                <a:spcPts val="600"/>
              </a:spcAft>
            </a:pPr>
            <a:r>
              <a:rPr sz="2000">
                <a:solidFill>
                  <a:srgbClr val="222222"/>
                </a:solidFill>
                <a:latin typeface="Calibri"/>
              </a:rPr>
              <a:t>• Experiments — Cube + PushT + Tworoom (negative case)</a:t>
            </a:r>
          </a:p>
          <a:p>
            <a:pPr>
              <a:spcAft>
                <a:spcPts val="600"/>
              </a:spcAft>
            </a:pPr>
            <a:r>
              <a:rPr sz="2000">
                <a:solidFill>
                  <a:srgbClr val="222222"/>
                </a:solidFill>
                <a:latin typeface="Calibri"/>
              </a:rPr>
              <a:t>• Results — +30 / +20 pp; regime asymmetry; asymptote validation</a:t>
            </a:r>
          </a:p>
          <a:p>
            <a:pPr>
              <a:spcAft>
                <a:spcPts val="600"/>
              </a:spcAft>
            </a:pPr>
            <a:r>
              <a:rPr sz="2000">
                <a:solidFill>
                  <a:srgbClr val="222222"/>
                </a:solidFill>
                <a:latin typeface="Calibri"/>
              </a:rPr>
              <a:t>• Real-robot — today's progress on Franka deployment</a:t>
            </a:r>
          </a:p>
          <a:p>
            <a:pPr>
              <a:spcAft>
                <a:spcPts val="600"/>
              </a:spcAft>
            </a:pPr>
            <a:r>
              <a:rPr sz="2000">
                <a:solidFill>
                  <a:srgbClr val="222222"/>
                </a:solidFill>
                <a:latin typeface="Calibri"/>
              </a:rPr>
              <a:t>• Conclusion + limitations + Q&amp;A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777240"/>
            <a:ext cx="115214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400" b="0" i="1">
                <a:solidFill>
                  <a:srgbClr val="777777"/>
                </a:solidFill>
                <a:latin typeface="Calibri"/>
              </a:rPr>
              <a:t>45–60 minutes  •  ~45 slides  •  Q&amp;A throughout, please interrupt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0" y="6400800"/>
            <a:ext cx="1828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 i="0">
                <a:solidFill>
                  <a:srgbClr val="777777"/>
                </a:solidFill>
                <a:latin typeface="Calibri"/>
              </a:rPr>
              <a:t>PRISM-JEPA  •  2 / 48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468880"/>
            <a:ext cx="10972800" cy="1828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0">
                <a:solidFill>
                  <a:srgbClr val="FFFFFF"/>
                </a:solidFill>
              </a:rPr>
              <a:t>§1</a:t>
            </a:r>
          </a:p>
          <a:p>
            <a:r>
              <a:rPr sz="5400" b="1">
                <a:solidFill>
                  <a:srgbClr val="FFFFFF"/>
                </a:solidFill>
              </a:rPr>
              <a:t>Introduction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515600" y="6400800"/>
            <a:ext cx="1828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 i="0">
                <a:solidFill>
                  <a:srgbClr val="777777"/>
                </a:solidFill>
                <a:latin typeface="Calibri"/>
              </a:rPr>
              <a:t>PRISM-JEPA  •  3 / 48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28600"/>
            <a:ext cx="1152144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800" b="1" i="0">
                <a:solidFill>
                  <a:srgbClr val="1F4E79"/>
                </a:solidFill>
                <a:latin typeface="Calibri"/>
              </a:rPr>
              <a:t>Model-based RL with imagined trajectories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188720"/>
            <a:ext cx="1133856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800">
                <a:solidFill>
                  <a:srgbClr val="222222"/>
                </a:solidFill>
                <a:latin typeface="Calibri"/>
              </a:rPr>
              <a:t>• Imagine consequences of candidate actions inside a learned world model — then act.</a:t>
            </a:r>
          </a:p>
          <a:p>
            <a:pPr>
              <a:spcAft>
                <a:spcPts val="600"/>
              </a:spcAft>
            </a:pPr>
            <a:r>
              <a:rPr sz="1800">
                <a:solidFill>
                  <a:srgbClr val="222222"/>
                </a:solidFill>
                <a:latin typeface="Calibri"/>
              </a:rPr>
              <a:t>• Two ingredients of every world-model planner:</a:t>
            </a:r>
          </a:p>
          <a:p>
            <a:pPr lvl="1">
              <a:spcAft>
                <a:spcPts val="600"/>
              </a:spcAft>
            </a:pPr>
            <a:r>
              <a:rPr sz="1600">
                <a:solidFill>
                  <a:srgbClr val="777777"/>
                </a:solidFill>
                <a:latin typeface="Calibri"/>
              </a:rPr>
              <a:t>▸ the world model that scores trajectories — heavy academic focus</a:t>
            </a:r>
          </a:p>
          <a:p>
            <a:pPr lvl="1">
              <a:spcAft>
                <a:spcPts val="600"/>
              </a:spcAft>
            </a:pPr>
            <a:r>
              <a:rPr sz="1600">
                <a:solidFill>
                  <a:srgbClr val="777777"/>
                </a:solidFill>
                <a:latin typeface="Calibri"/>
              </a:rPr>
              <a:t>▸ the sampling distribution that proposes them — under-examined</a:t>
            </a:r>
          </a:p>
          <a:p>
            <a:pPr>
              <a:spcAft>
                <a:spcPts val="600"/>
              </a:spcAft>
            </a:pPr>
            <a:r>
              <a:rPr sz="1800">
                <a:solidFill>
                  <a:srgbClr val="222222"/>
                </a:solidFill>
                <a:latin typeface="Calibri"/>
              </a:rPr>
              <a:t>• Examples: DreamerV3, TD-MPC2, LeWM, DINO-WM.</a:t>
            </a: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4023360"/>
            <a:ext cx="10972800" cy="24688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0515600" y="6400800"/>
            <a:ext cx="1828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 i="0">
                <a:solidFill>
                  <a:srgbClr val="777777"/>
                </a:solidFill>
                <a:latin typeface="Calibri"/>
              </a:rPr>
              <a:t>PRISM-JEPA  •  4 / 48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28600"/>
            <a:ext cx="1152144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800" b="1" i="0">
                <a:solidFill>
                  <a:srgbClr val="1F4E79"/>
                </a:solidFill>
                <a:latin typeface="Calibri"/>
              </a:rPr>
              <a:t>How does MPPI choose its sampling distribution today?</a:t>
            </a:r>
          </a:p>
        </p:txBody>
      </p:sp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097280"/>
            <a:ext cx="11612880" cy="338328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4663440"/>
            <a:ext cx="1133856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400">
                <a:solidFill>
                  <a:srgbClr val="222222"/>
                </a:solidFill>
                <a:latin typeface="Calibri"/>
              </a:rPr>
              <a:t>• Vanilla MPPI: sample from N(0, σ²I).  Zero-mean default — no demo info, no warm-start.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222222"/>
                </a:solidFill>
                <a:latin typeface="Calibri"/>
              </a:rPr>
              <a:t>• Warm-start MPPI: sample from N(μ_prev, σ²I).  μ_prev = previous step's planner solution rolled forward.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222222"/>
                </a:solidFill>
                <a:latin typeface="Calibri"/>
              </a:rPr>
              <a:t>• Demo / policy prior (PiJEPA, VLMPC): sample from N(μ_p, σ²I).  μ_p from a learned prior;  σ_p IS DISCARDED.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222222"/>
                </a:solidFill>
                <a:latin typeface="Calibri"/>
              </a:rPr>
              <a:t>• → Differ only in WHERE μ is placed.  σ is always the planner's fixed default.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0" y="6400800"/>
            <a:ext cx="1828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 i="0">
                <a:solidFill>
                  <a:srgbClr val="777777"/>
                </a:solidFill>
                <a:latin typeface="Calibri"/>
              </a:rPr>
              <a:t>PRISM-JEPA  •  5 / 48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28600"/>
            <a:ext cx="1152144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800" b="1" i="0">
                <a:solidFill>
                  <a:srgbClr val="1F4E79"/>
                </a:solidFill>
                <a:latin typeface="Calibri"/>
              </a:rPr>
              <a:t>Our framing: precision-weighted Gaussian fusion</a:t>
            </a:r>
          </a:p>
        </p:txBody>
      </p:sp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188720"/>
            <a:ext cx="10972800" cy="36576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5029200"/>
            <a:ext cx="1133856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222"/>
                </a:solidFill>
                <a:latin typeface="Calibri"/>
              </a:rPr>
              <a:t>• Given a planner default and a learned prior, both Gaussian, fuse them via Product-of-Gaussians.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222"/>
                </a:solidFill>
                <a:latin typeface="Calibri"/>
              </a:rPr>
              <a:t>• Closed form. Posterior interpretation: two independent Gaussian observations of the same latent action.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0" y="6400800"/>
            <a:ext cx="1828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 i="0">
                <a:solidFill>
                  <a:srgbClr val="777777"/>
                </a:solidFill>
                <a:latin typeface="Calibri"/>
              </a:rPr>
              <a:t>PRISM-JEPA  •  6 / 48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28600"/>
            <a:ext cx="1152144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800" b="1" i="0">
                <a:solidFill>
                  <a:srgbClr val="1F4E79"/>
                </a:solidFill>
                <a:latin typeface="Calibri"/>
              </a:rPr>
              <a:t>Why PoG: three properties for free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188720"/>
            <a:ext cx="1133856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800">
                <a:solidFill>
                  <a:srgbClr val="222222"/>
                </a:solidFill>
                <a:latin typeface="Calibri"/>
              </a:rPr>
              <a:t>• P1.  Per-state precision weighting</a:t>
            </a:r>
          </a:p>
          <a:p>
            <a:pPr lvl="1">
              <a:spcAft>
                <a:spcPts val="600"/>
              </a:spcAft>
            </a:pPr>
            <a:r>
              <a:rPr sz="1600">
                <a:solidFill>
                  <a:srgbClr val="777777"/>
                </a:solidFill>
                <a:latin typeface="Calibri"/>
              </a:rPr>
              <a:t>▸ More confident source dominates state-by-state — automatic, no scheduler.</a:t>
            </a:r>
          </a:p>
          <a:p>
            <a:pPr lvl="1">
              <a:spcAft>
                <a:spcPts val="600"/>
              </a:spcAft>
            </a:pPr>
            <a:r>
              <a:rPr sz="1600">
                <a:solidFill>
                  <a:srgbClr val="777777"/>
                </a:solidFill>
                <a:latin typeface="Calibri"/>
              </a:rPr>
              <a:t>▸ Locally tight σ in high-density regions of training data → prior dominates there.</a:t>
            </a:r>
          </a:p>
          <a:p>
            <a:pPr>
              <a:spcAft>
                <a:spcPts val="600"/>
              </a:spcAft>
            </a:pPr>
            <a:r>
              <a:rPr sz="1800">
                <a:solidFill>
                  <a:srgbClr val="222222"/>
                </a:solidFill>
                <a:latin typeface="Calibri"/>
              </a:rPr>
              <a:t>• P2.  Asymptote guarantee</a:t>
            </a:r>
          </a:p>
          <a:p>
            <a:pPr lvl="1">
              <a:spcAft>
                <a:spcPts val="600"/>
              </a:spcAft>
            </a:pPr>
            <a:r>
              <a:rPr sz="1600">
                <a:solidFill>
                  <a:srgbClr val="777777"/>
                </a:solidFill>
                <a:latin typeface="Calibri"/>
              </a:rPr>
              <a:t>▸ As the prior's variance grows, the fused distribution recovers vanilla MPPI exactly.</a:t>
            </a:r>
          </a:p>
          <a:p>
            <a:pPr lvl="1">
              <a:spcAft>
                <a:spcPts val="600"/>
              </a:spcAft>
            </a:pPr>
            <a:r>
              <a:rPr sz="1600">
                <a:solidFill>
                  <a:srgbClr val="777777"/>
                </a:solidFill>
                <a:latin typeface="Calibri"/>
              </a:rPr>
              <a:t>▸ Structural property of PoG, not an empirical claim.</a:t>
            </a:r>
          </a:p>
          <a:p>
            <a:pPr>
              <a:spcAft>
                <a:spcPts val="600"/>
              </a:spcAft>
            </a:pPr>
            <a:r>
              <a:rPr sz="1800">
                <a:solidFill>
                  <a:srgbClr val="222222"/>
                </a:solidFill>
                <a:latin typeface="Calibri"/>
              </a:rPr>
              <a:t>• P3.  Parameter-free, closed-form</a:t>
            </a:r>
          </a:p>
          <a:p>
            <a:pPr lvl="1">
              <a:spcAft>
                <a:spcPts val="600"/>
              </a:spcAft>
            </a:pPr>
            <a:r>
              <a:rPr sz="1600">
                <a:solidFill>
                  <a:srgbClr val="777777"/>
                </a:solidFill>
                <a:latin typeface="Calibri"/>
              </a:rPr>
              <a:t>▸ No inference-time optimization, no learned blending coefficient, no scheduler.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515600" y="6400800"/>
            <a:ext cx="1828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 i="0">
                <a:solidFill>
                  <a:srgbClr val="777777"/>
                </a:solidFill>
                <a:latin typeface="Calibri"/>
              </a:rPr>
              <a:t>PRISM-JEPA  •  7 / 48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28600"/>
            <a:ext cx="1152144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800" b="1" i="0">
                <a:solidFill>
                  <a:srgbClr val="1F4E79"/>
                </a:solidFill>
                <a:latin typeface="Calibri"/>
              </a:rPr>
              <a:t>Asymptote guarantee — visualized</a:t>
            </a:r>
          </a:p>
        </p:txBody>
      </p:sp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0" y="1188720"/>
            <a:ext cx="7772400" cy="384048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5212080"/>
            <a:ext cx="1133856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222"/>
                </a:solidFill>
                <a:latin typeface="Calibri"/>
              </a:rPr>
              <a:t>• When the prior is uninformative (large σ), PRISM ≡ vanilla MPPI mathematically.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222"/>
                </a:solidFill>
                <a:latin typeface="Calibri"/>
              </a:rPr>
              <a:t>• Warm-start does NOT have this property: a copied μ_p persists no matter what.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0" y="6400800"/>
            <a:ext cx="1828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 i="0">
                <a:solidFill>
                  <a:srgbClr val="777777"/>
                </a:solidFill>
                <a:latin typeface="Calibri"/>
              </a:rPr>
              <a:t>PRISM-JEPA  •  8 / 48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28600"/>
            <a:ext cx="1152144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800" b="1" i="0">
                <a:solidFill>
                  <a:srgbClr val="1F4E79"/>
                </a:solidFill>
                <a:latin typeface="Calibri"/>
              </a:rPr>
              <a:t>PRISM-MPPI in one picture</a:t>
            </a:r>
          </a:p>
        </p:txBody>
      </p:sp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71600"/>
            <a:ext cx="11612880" cy="34747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5212080"/>
            <a:ext cx="1133856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222"/>
                </a:solidFill>
                <a:latin typeface="Calibri"/>
              </a:rPr>
              <a:t>• Frozen JEPA encoder → small MLP prior head → PoG fusion → MPPI loop.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222"/>
                </a:solidFill>
                <a:latin typeface="Calibri"/>
              </a:rPr>
              <a:t>• Only the prior head is trained; everything else is the LeWM substrate.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0" y="6400800"/>
            <a:ext cx="1828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 i="0">
                <a:solidFill>
                  <a:srgbClr val="777777"/>
                </a:solidFill>
                <a:latin typeface="Calibri"/>
              </a:rPr>
              <a:t>PRISM-JEPA  •  9 / 48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28600"/>
            <a:ext cx="1152144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800" b="1" i="0">
                <a:solidFill>
                  <a:srgbClr val="1F4E79"/>
                </a:solidFill>
                <a:latin typeface="Calibri"/>
              </a:rPr>
              <a:t>Contributions of this paper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188720"/>
            <a:ext cx="1133856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700">
                <a:solidFill>
                  <a:srgbClr val="222222"/>
                </a:solidFill>
                <a:latin typeface="Calibri"/>
              </a:rPr>
              <a:t>• Method</a:t>
            </a:r>
          </a:p>
          <a:p>
            <a:pPr lvl="1">
              <a:spcAft>
                <a:spcPts val="600"/>
              </a:spcAft>
            </a:pPr>
            <a:r>
              <a:rPr sz="1500">
                <a:solidFill>
                  <a:srgbClr val="777777"/>
                </a:solidFill>
                <a:latin typeface="Calibri"/>
              </a:rPr>
              <a:t>▸ PRISM-MPPI: closed-form precision-weighted fusion of a learned action prior into MPPI.</a:t>
            </a:r>
          </a:p>
          <a:p>
            <a:pPr lvl="1">
              <a:spcAft>
                <a:spcPts val="600"/>
              </a:spcAft>
            </a:pPr>
            <a:r>
              <a:rPr sz="1500">
                <a:solidFill>
                  <a:srgbClr val="777777"/>
                </a:solidFill>
                <a:latin typeface="Calibri"/>
              </a:rPr>
              <a:t>▸ Sits between mean-only warm-start (no σ) and KL-bias MPPI (no closed-form Gaussian instance).</a:t>
            </a:r>
          </a:p>
          <a:p>
            <a:pPr>
              <a:spcAft>
                <a:spcPts val="600"/>
              </a:spcAft>
            </a:pPr>
            <a:r>
              <a:rPr sz="1700">
                <a:solidFill>
                  <a:srgbClr val="222222"/>
                </a:solidFill>
                <a:latin typeface="Calibri"/>
              </a:rPr>
              <a:t>• Empirical</a:t>
            </a:r>
          </a:p>
          <a:p>
            <a:pPr lvl="1">
              <a:spcAft>
                <a:spcPts val="600"/>
              </a:spcAft>
            </a:pPr>
            <a:r>
              <a:rPr sz="1500">
                <a:solidFill>
                  <a:srgbClr val="777777"/>
                </a:solidFill>
                <a:latin typeface="Calibri"/>
              </a:rPr>
              <a:t>▸ +30.7 pp on Cube and +20.7 pp on PushT over vanilla MPPI (3 seeds, paired, p≈0.008 / 0.09).</a:t>
            </a:r>
          </a:p>
          <a:p>
            <a:pPr lvl="1">
              <a:spcAft>
                <a:spcPts val="600"/>
              </a:spcAft>
            </a:pPr>
            <a:r>
              <a:rPr sz="1500">
                <a:solidFill>
                  <a:srgbClr val="777777"/>
                </a:solidFill>
                <a:latin typeface="Calibri"/>
              </a:rPr>
              <a:t>▸ Regime asymmetry: warm-start ≈ PRISM on strong unimodal prior (Cube).</a:t>
            </a:r>
          </a:p>
          <a:p>
            <a:pPr lvl="1">
              <a:spcAft>
                <a:spcPts val="600"/>
              </a:spcAft>
            </a:pPr>
            <a:r>
              <a:rPr sz="1500">
                <a:solidFill>
                  <a:srgbClr val="777777"/>
                </a:solidFill>
                <a:latin typeface="Calibri"/>
              </a:rPr>
              <a:t>▸ Only PRISM survives a multimodal expert with a sub-expert μ (PushT).</a:t>
            </a:r>
          </a:p>
          <a:p>
            <a:pPr>
              <a:spcAft>
                <a:spcPts val="600"/>
              </a:spcAft>
            </a:pPr>
            <a:r>
              <a:rPr sz="1700">
                <a:solidFill>
                  <a:srgbClr val="222222"/>
                </a:solidFill>
                <a:latin typeface="Calibri"/>
              </a:rPr>
              <a:t>• Limits</a:t>
            </a:r>
          </a:p>
          <a:p>
            <a:pPr lvl="1">
              <a:spcAft>
                <a:spcPts val="600"/>
              </a:spcAft>
            </a:pPr>
            <a:r>
              <a:rPr sz="1500">
                <a:solidFill>
                  <a:srgbClr val="777777"/>
                </a:solidFill>
                <a:latin typeface="Calibri"/>
              </a:rPr>
              <a:t>▸ When demos are &lt;50% successful (Tworoom), no head learns; asymptote returns vanilla MPPI as predicted.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515600" y="6400800"/>
            <a:ext cx="1828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 i="0">
                <a:solidFill>
                  <a:srgbClr val="777777"/>
                </a:solidFill>
                <a:latin typeface="Calibri"/>
              </a:rPr>
              <a:t>PRISM-JEPA  •  10 / 48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468880"/>
            <a:ext cx="10972800" cy="1828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0">
                <a:solidFill>
                  <a:srgbClr val="FFFFFF"/>
                </a:solidFill>
              </a:rPr>
              <a:t>§2</a:t>
            </a:r>
          </a:p>
          <a:p>
            <a:r>
              <a:rPr sz="5400" b="1">
                <a:solidFill>
                  <a:srgbClr val="FFFFFF"/>
                </a:solidFill>
              </a:rPr>
              <a:t>Related Work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515600" y="6400800"/>
            <a:ext cx="1828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 i="0">
                <a:solidFill>
                  <a:srgbClr val="777777"/>
                </a:solidFill>
                <a:latin typeface="Calibri"/>
              </a:rPr>
              <a:t>PRISM-JEPA  •  11 / 48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28600"/>
            <a:ext cx="1152144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800" b="1" i="0">
                <a:solidFill>
                  <a:srgbClr val="1F4E79"/>
                </a:solidFill>
                <a:latin typeface="Calibri"/>
              </a:rPr>
              <a:t>World models with sampling-based planning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188720"/>
            <a:ext cx="1133856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800">
                <a:solidFill>
                  <a:srgbClr val="222222"/>
                </a:solidFill>
                <a:latin typeface="Calibri"/>
              </a:rPr>
              <a:t>• DreamerV3 (Hafner+ 2023): reward-conditional latent dynamics, actor-critic on imagined trajectories.</a:t>
            </a:r>
          </a:p>
          <a:p>
            <a:pPr>
              <a:spcAft>
                <a:spcPts val="600"/>
              </a:spcAft>
            </a:pPr>
            <a:r>
              <a:rPr sz="1800">
                <a:solidFill>
                  <a:srgbClr val="222222"/>
                </a:solidFill>
                <a:latin typeface="Calibri"/>
              </a:rPr>
              <a:t>• TD-MPC2 (Hansen+ 2024): latent dynamics + Q-network + CEM-style planning.</a:t>
            </a:r>
          </a:p>
          <a:p>
            <a:pPr>
              <a:spcAft>
                <a:spcPts val="600"/>
              </a:spcAft>
            </a:pPr>
            <a:r>
              <a:rPr sz="1800">
                <a:solidFill>
                  <a:srgbClr val="222222"/>
                </a:solidFill>
                <a:latin typeface="Calibri"/>
              </a:rPr>
              <a:t>• LeWM (Maes+ 2026): JEPA-based world model, NO reward predictor, NO Q-network — cost is purely visual.</a:t>
            </a:r>
          </a:p>
          <a:p>
            <a:pPr lvl="1">
              <a:spcAft>
                <a:spcPts val="600"/>
              </a:spcAft>
            </a:pPr>
            <a:r>
              <a:rPr sz="1600">
                <a:solidFill>
                  <a:srgbClr val="777777"/>
                </a:solidFill>
                <a:latin typeface="Calibri"/>
              </a:rPr>
              <a:t>▸ Embedding-MSE to a goal frame:  cost(a) = ‖f(z_t, a) − z_g‖²</a:t>
            </a:r>
          </a:p>
          <a:p>
            <a:pPr lvl="1">
              <a:spcAft>
                <a:spcPts val="600"/>
              </a:spcAft>
            </a:pPr>
            <a:r>
              <a:rPr sz="1600">
                <a:solidFill>
                  <a:srgbClr val="777777"/>
                </a:solidFill>
                <a:latin typeface="Calibri"/>
              </a:rPr>
              <a:t>▸ We pick LeWM as the substrate: any improvement is unambiguously the planner's seed (no Q to absorb).</a:t>
            </a:r>
          </a:p>
          <a:p>
            <a:pPr>
              <a:spcAft>
                <a:spcPts val="600"/>
              </a:spcAft>
            </a:pPr>
            <a:r>
              <a:rPr sz="1800">
                <a:solidFill>
                  <a:srgbClr val="222222"/>
                </a:solidFill>
                <a:latin typeface="Calibri"/>
              </a:rPr>
              <a:t>• DINO-WM (Zhou+ 2024): similar JEPA-style goal-conditioned world model with planning.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515600" y="6400800"/>
            <a:ext cx="1828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 i="0">
                <a:solidFill>
                  <a:srgbClr val="777777"/>
                </a:solidFill>
                <a:latin typeface="Calibri"/>
              </a:rPr>
              <a:t>PRISM-JEPA  •  12 / 48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28600"/>
            <a:ext cx="1152144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800" b="1" i="0">
                <a:solidFill>
                  <a:srgbClr val="1F4E79"/>
                </a:solidFill>
                <a:latin typeface="Calibri"/>
              </a:rPr>
              <a:t>PiJEPA — closest substrate, different fusion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188720"/>
            <a:ext cx="1133856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800">
                <a:solidFill>
                  <a:srgbClr val="222222"/>
                </a:solidFill>
                <a:latin typeface="Calibri"/>
              </a:rPr>
              <a:t>• Chahe &amp; Zhou 2026.03 (Drexel): JEPA-based world-model planning + MPPI + a fine-tuned Octo policy as prior.</a:t>
            </a:r>
          </a:p>
          <a:p>
            <a:pPr>
              <a:spcAft>
                <a:spcPts val="600"/>
              </a:spcAft>
            </a:pPr>
            <a:r>
              <a:rPr sz="1800">
                <a:solidFill>
                  <a:srgbClr val="222222"/>
                </a:solidFill>
                <a:latin typeface="Calibri"/>
              </a:rPr>
              <a:t>• Same JEPA + MPPI substrate as us. Different fusion.</a:t>
            </a:r>
          </a:p>
          <a:p>
            <a:pPr>
              <a:spcAft>
                <a:spcPts val="600"/>
              </a:spcAft>
            </a:pPr>
            <a:r>
              <a:rPr sz="1800">
                <a:solidFill>
                  <a:srgbClr val="222222"/>
                </a:solidFill>
                <a:latin typeface="Calibri"/>
              </a:rPr>
              <a:t>• PiJEPA's choice: warm-start.  μ_MPPI ← μ_policy.  Discards σ_p.</a:t>
            </a:r>
          </a:p>
          <a:p>
            <a:pPr>
              <a:spcAft>
                <a:spcPts val="600"/>
              </a:spcAft>
            </a:pPr>
            <a:r>
              <a:rPr sz="1800">
                <a:solidFill>
                  <a:srgbClr val="222222"/>
                </a:solidFill>
                <a:latin typeface="Calibri"/>
              </a:rPr>
              <a:t>• Our differentiation, on two complementary axes:</a:t>
            </a:r>
          </a:p>
          <a:p>
            <a:pPr lvl="1">
              <a:spcAft>
                <a:spcPts val="600"/>
              </a:spcAft>
            </a:pPr>
            <a:r>
              <a:rPr sz="1600">
                <a:solidFill>
                  <a:srgbClr val="777777"/>
                </a:solidFill>
                <a:latin typeface="Calibri"/>
              </a:rPr>
              <a:t>▸ Fusion algebra: PoG retains σ_p, automatic precision weighting, asymptote guarantee.</a:t>
            </a:r>
          </a:p>
          <a:p>
            <a:pPr lvl="1">
              <a:spcAft>
                <a:spcPts val="600"/>
              </a:spcAft>
            </a:pPr>
            <a:r>
              <a:rPr sz="1600">
                <a:solidFill>
                  <a:srgbClr val="777777"/>
                </a:solidFill>
                <a:latin typeface="Calibri"/>
              </a:rPr>
              <a:t>▸ Task domain: PiJEPA = visual navigation; we = visual manipulation.</a:t>
            </a:r>
          </a:p>
          <a:p>
            <a:pPr>
              <a:spcAft>
                <a:spcPts val="600"/>
              </a:spcAft>
            </a:pPr>
            <a:r>
              <a:rPr sz="1800">
                <a:solidFill>
                  <a:srgbClr val="222222"/>
                </a:solidFill>
                <a:latin typeface="Calibri"/>
              </a:rPr>
              <a:t>• Our PushT result is a direct empirical case where warm-start would fail and PoG survives.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515600" y="6400800"/>
            <a:ext cx="1828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 i="0">
                <a:solidFill>
                  <a:srgbClr val="777777"/>
                </a:solidFill>
                <a:latin typeface="Calibri"/>
              </a:rPr>
              <a:t>PRISM-JEPA  •  13 / 48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28600"/>
            <a:ext cx="1152144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800" b="1" i="0">
                <a:solidFill>
                  <a:srgbClr val="1F4E79"/>
                </a:solidFill>
                <a:latin typeface="Calibri"/>
              </a:rPr>
              <a:t>VLMPC (Wang+ RSS 2024)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188720"/>
            <a:ext cx="1133856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800">
                <a:solidFill>
                  <a:srgbClr val="222222"/>
                </a:solidFill>
                <a:latin typeface="Calibri"/>
              </a:rPr>
              <a:t>• VLM (e.g. GPT-4V) provides a low-dim Gaussian action prior at every env step.</a:t>
            </a:r>
          </a:p>
          <a:p>
            <a:pPr>
              <a:spcAft>
                <a:spcPts val="600"/>
              </a:spcAft>
            </a:pPr>
            <a:r>
              <a:rPr sz="1800">
                <a:solidFill>
                  <a:srgbClr val="222222"/>
                </a:solidFill>
                <a:latin typeface="Calibri"/>
              </a:rPr>
              <a:t>• TD-MPC2 + MPPI substrate; mean-only injection.</a:t>
            </a:r>
          </a:p>
          <a:p>
            <a:pPr>
              <a:spcAft>
                <a:spcPts val="600"/>
              </a:spcAft>
            </a:pPr>
            <a:r>
              <a:rPr sz="1800">
                <a:solidFill>
                  <a:srgbClr val="222222"/>
                </a:solidFill>
                <a:latin typeface="Calibri"/>
              </a:rPr>
              <a:t>• Validated on simulated and real UR5 manipulation tasks.</a:t>
            </a:r>
          </a:p>
          <a:p>
            <a:pPr>
              <a:spcAft>
                <a:spcPts val="600"/>
              </a:spcAft>
            </a:pPr>
            <a:r>
              <a:rPr sz="1800">
                <a:solidFill>
                  <a:srgbClr val="222222"/>
                </a:solidFill>
                <a:latin typeface="Calibri"/>
              </a:rPr>
              <a:t>• Our differentiation, three axes:</a:t>
            </a:r>
          </a:p>
          <a:p>
            <a:pPr lvl="1">
              <a:spcAft>
                <a:spcPts val="600"/>
              </a:spcAft>
            </a:pPr>
            <a:r>
              <a:rPr sz="1600">
                <a:solidFill>
                  <a:srgbClr val="777777"/>
                </a:solidFill>
                <a:latin typeface="Calibri"/>
              </a:rPr>
              <a:t>▸ σ — VLMPC hand-sets it; we learn it via β-NLL.</a:t>
            </a:r>
          </a:p>
          <a:p>
            <a:pPr lvl="1">
              <a:spcAft>
                <a:spcPts val="600"/>
              </a:spcAft>
            </a:pPr>
            <a:r>
              <a:rPr sz="1600">
                <a:solidFill>
                  <a:srgbClr val="777777"/>
                </a:solidFill>
                <a:latin typeface="Calibri"/>
              </a:rPr>
              <a:t>▸ Compute — VLMPC calls VLM each env step (heavy); we use a 0.5M MLP on cached JEPA features.</a:t>
            </a:r>
          </a:p>
          <a:p>
            <a:pPr lvl="1">
              <a:spcAft>
                <a:spcPts val="600"/>
              </a:spcAft>
            </a:pPr>
            <a:r>
              <a:rPr sz="1600">
                <a:solidFill>
                  <a:srgbClr val="777777"/>
                </a:solidFill>
                <a:latin typeface="Calibri"/>
              </a:rPr>
              <a:t>▸ Fusion — VLMPC drops σ; we contribute closed-form Gaussian fusion.</a:t>
            </a:r>
          </a:p>
          <a:p>
            <a:pPr>
              <a:spcAft>
                <a:spcPts val="600"/>
              </a:spcAft>
            </a:pPr>
            <a:r>
              <a:rPr sz="1800">
                <a:solidFill>
                  <a:srgbClr val="222222"/>
                </a:solidFill>
                <a:latin typeface="Calibri"/>
              </a:rPr>
              <a:t>• PRISM's PoG form is independent of where the prior comes from — VLM-derived priors are a future extension.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515600" y="6400800"/>
            <a:ext cx="1828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 i="0">
                <a:solidFill>
                  <a:srgbClr val="777777"/>
                </a:solidFill>
                <a:latin typeface="Calibri"/>
              </a:rPr>
              <a:t>PRISM-JEPA  •  14 / 48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28600"/>
            <a:ext cx="1152144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800" b="1" i="0">
                <a:solidFill>
                  <a:srgbClr val="1F4E79"/>
                </a:solidFill>
                <a:latin typeface="Calibri"/>
              </a:rPr>
              <a:t>Biased-MPPI (Trevisan &amp; Alonso-Mora 2024)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188720"/>
            <a:ext cx="1133856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800">
                <a:solidFill>
                  <a:srgbClr val="222222"/>
                </a:solidFill>
                <a:latin typeface="Calibri"/>
              </a:rPr>
              <a:t>• General derivation: MPPI with arbitrary sampling distributions via KL-bias importance sampling.</a:t>
            </a:r>
          </a:p>
          <a:p>
            <a:pPr>
              <a:spcAft>
                <a:spcPts val="600"/>
              </a:spcAft>
            </a:pPr>
            <a:r>
              <a:rPr sz="1800">
                <a:solidFill>
                  <a:srgbClr val="222222"/>
                </a:solidFill>
                <a:latin typeface="Calibri"/>
              </a:rPr>
              <a:t>• Used to fuse multiple ancillary controllers.</a:t>
            </a:r>
          </a:p>
          <a:p>
            <a:pPr>
              <a:spcAft>
                <a:spcPts val="600"/>
              </a:spcAft>
            </a:pPr>
            <a:r>
              <a:rPr sz="1800">
                <a:solidFill>
                  <a:srgbClr val="222222"/>
                </a:solidFill>
                <a:latin typeface="Calibri"/>
              </a:rPr>
              <a:t>• Evaluated on low-dim state-space tasks (pendula, ships, wheeled vehicles) — not vision-based manipulation.</a:t>
            </a:r>
          </a:p>
          <a:p>
            <a:pPr>
              <a:spcAft>
                <a:spcPts val="600"/>
              </a:spcAft>
            </a:pPr>
            <a:r>
              <a:rPr sz="1800">
                <a:solidFill>
                  <a:srgbClr val="222222"/>
                </a:solidFill>
                <a:latin typeface="Calibri"/>
              </a:rPr>
              <a:t>• Mathematically more general than ours, but lacks the closed-form Gaussian instance.</a:t>
            </a:r>
          </a:p>
          <a:p>
            <a:pPr>
              <a:spcAft>
                <a:spcPts val="600"/>
              </a:spcAft>
            </a:pPr>
            <a:r>
              <a:rPr sz="1800">
                <a:solidFill>
                  <a:srgbClr val="222222"/>
                </a:solidFill>
                <a:latin typeface="Calibri"/>
              </a:rPr>
              <a:t>• PRISM = the Gaussian-Gaussian special case with:</a:t>
            </a:r>
          </a:p>
          <a:p>
            <a:pPr lvl="1">
              <a:spcAft>
                <a:spcPts val="600"/>
              </a:spcAft>
            </a:pPr>
            <a:r>
              <a:rPr sz="1600">
                <a:solidFill>
                  <a:srgbClr val="777777"/>
                </a:solidFill>
                <a:latin typeface="Calibri"/>
              </a:rPr>
              <a:t>▸ closed-form posterior (no importance-sampling reweighting overhead)</a:t>
            </a:r>
          </a:p>
          <a:p>
            <a:pPr lvl="1">
              <a:spcAft>
                <a:spcPts val="600"/>
              </a:spcAft>
            </a:pPr>
            <a:r>
              <a:rPr sz="1600">
                <a:solidFill>
                  <a:srgbClr val="777777"/>
                </a:solidFill>
                <a:latin typeface="Calibri"/>
              </a:rPr>
              <a:t>▸ asymptote guarantee built in</a:t>
            </a:r>
          </a:p>
          <a:p>
            <a:pPr lvl="1">
              <a:spcAft>
                <a:spcPts val="600"/>
              </a:spcAft>
            </a:pPr>
            <a:r>
              <a:rPr sz="1600">
                <a:solidFill>
                  <a:srgbClr val="777777"/>
                </a:solidFill>
                <a:latin typeface="Calibri"/>
              </a:rPr>
              <a:t>▸ per-state precision weighting tied to the prior head's σ_p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515600" y="6400800"/>
            <a:ext cx="1828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 i="0">
                <a:solidFill>
                  <a:srgbClr val="777777"/>
                </a:solidFill>
                <a:latin typeface="Calibri"/>
              </a:rPr>
              <a:t>PRISM-JEPA  •  15 / 48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28600"/>
            <a:ext cx="1152144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800" b="1" i="0">
                <a:solidFill>
                  <a:srgbClr val="1F4E79"/>
                </a:solidFill>
                <a:latin typeface="Calibri"/>
              </a:rPr>
              <a:t>Positioning — where PRISM sits in the design space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188720"/>
            <a:ext cx="1133856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700">
                <a:solidFill>
                  <a:srgbClr val="222222"/>
                </a:solidFill>
                <a:latin typeface="Calibri"/>
              </a:rPr>
              <a:t>• Mean-only injection (warm-start, PiJEPA, VLMPC):</a:t>
            </a:r>
          </a:p>
          <a:p>
            <a:pPr lvl="1">
              <a:spcAft>
                <a:spcPts val="600"/>
              </a:spcAft>
            </a:pPr>
            <a:r>
              <a:rPr sz="1500">
                <a:solidFill>
                  <a:srgbClr val="777777"/>
                </a:solidFill>
                <a:latin typeface="Calibri"/>
              </a:rPr>
              <a:t>▸ Simple. Gracefully passes when prior is good. Fails when prior μ is bad.</a:t>
            </a:r>
          </a:p>
          <a:p>
            <a:pPr lvl="1">
              <a:spcAft>
                <a:spcPts val="600"/>
              </a:spcAft>
            </a:pPr>
            <a:r>
              <a:rPr sz="1500">
                <a:solidFill>
                  <a:srgbClr val="777777"/>
                </a:solidFill>
                <a:latin typeface="Calibri"/>
              </a:rPr>
              <a:t>▸ No σ-handling, no asymptote guarantee.</a:t>
            </a:r>
          </a:p>
          <a:p>
            <a:pPr>
              <a:spcAft>
                <a:spcPts val="600"/>
              </a:spcAft>
            </a:pPr>
            <a:r>
              <a:rPr sz="1700">
                <a:solidFill>
                  <a:srgbClr val="222222"/>
                </a:solidFill>
                <a:latin typeface="Calibri"/>
              </a:rPr>
              <a:t>• KL-bias / importance-sampling general (Biased-MPPI):</a:t>
            </a:r>
          </a:p>
          <a:p>
            <a:pPr lvl="1">
              <a:spcAft>
                <a:spcPts val="600"/>
              </a:spcAft>
            </a:pPr>
            <a:r>
              <a:rPr sz="1500">
                <a:solidFill>
                  <a:srgbClr val="777777"/>
                </a:solidFill>
                <a:latin typeface="Calibri"/>
              </a:rPr>
              <a:t>▸ Mathematically general but no closed-form Gaussian instance.</a:t>
            </a:r>
          </a:p>
          <a:p>
            <a:pPr lvl="1">
              <a:spcAft>
                <a:spcPts val="600"/>
              </a:spcAft>
            </a:pPr>
            <a:r>
              <a:rPr sz="1500">
                <a:solidFill>
                  <a:srgbClr val="777777"/>
                </a:solidFill>
                <a:latin typeface="Calibri"/>
              </a:rPr>
              <a:t>▸ Evaluated only on low-dim state-space.</a:t>
            </a:r>
          </a:p>
          <a:p>
            <a:pPr>
              <a:spcAft>
                <a:spcPts val="600"/>
              </a:spcAft>
            </a:pPr>
            <a:r>
              <a:rPr sz="1700">
                <a:solidFill>
                  <a:srgbClr val="222222"/>
                </a:solidFill>
                <a:latin typeface="Calibri"/>
              </a:rPr>
              <a:t>• PRISM-PoG (ours):</a:t>
            </a:r>
          </a:p>
          <a:p>
            <a:pPr lvl="1">
              <a:spcAft>
                <a:spcPts val="600"/>
              </a:spcAft>
            </a:pPr>
            <a:r>
              <a:rPr sz="1500">
                <a:solidFill>
                  <a:srgbClr val="777777"/>
                </a:solidFill>
                <a:latin typeface="Calibri"/>
              </a:rPr>
              <a:t>▸ Closed-form Gaussian fusion.</a:t>
            </a:r>
          </a:p>
          <a:p>
            <a:pPr lvl="1">
              <a:spcAft>
                <a:spcPts val="600"/>
              </a:spcAft>
            </a:pPr>
            <a:r>
              <a:rPr sz="1500">
                <a:solidFill>
                  <a:srgbClr val="777777"/>
                </a:solidFill>
                <a:latin typeface="Calibri"/>
              </a:rPr>
              <a:t>▸ Asymptote guarantee for free.</a:t>
            </a:r>
          </a:p>
          <a:p>
            <a:pPr lvl="1">
              <a:spcAft>
                <a:spcPts val="600"/>
              </a:spcAft>
            </a:pPr>
            <a:r>
              <a:rPr sz="1500">
                <a:solidFill>
                  <a:srgbClr val="777777"/>
                </a:solidFill>
                <a:latin typeface="Calibri"/>
              </a:rPr>
              <a:t>▸ Per-state precision weighting from the head's own σ_p.</a:t>
            </a:r>
          </a:p>
          <a:p>
            <a:pPr lvl="1">
              <a:spcAft>
                <a:spcPts val="600"/>
              </a:spcAft>
            </a:pPr>
            <a:r>
              <a:rPr sz="1500">
                <a:solidFill>
                  <a:srgbClr val="777777"/>
                </a:solidFill>
                <a:latin typeface="Calibri"/>
              </a:rPr>
              <a:t>▸ Empirically validates on visual manipulation across two very different sims.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515600" y="6400800"/>
            <a:ext cx="1828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 i="0">
                <a:solidFill>
                  <a:srgbClr val="777777"/>
                </a:solidFill>
                <a:latin typeface="Calibri"/>
              </a:rPr>
              <a:t>PRISM-JEPA  •  16 / 48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468880"/>
            <a:ext cx="10972800" cy="1828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0">
                <a:solidFill>
                  <a:srgbClr val="FFFFFF"/>
                </a:solidFill>
              </a:rPr>
              <a:t>§3</a:t>
            </a:r>
          </a:p>
          <a:p>
            <a:r>
              <a:rPr sz="5400" b="1">
                <a:solidFill>
                  <a:srgbClr val="FFFFFF"/>
                </a:solidFill>
              </a:rPr>
              <a:t>Method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515600" y="6400800"/>
            <a:ext cx="1828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 i="0">
                <a:solidFill>
                  <a:srgbClr val="777777"/>
                </a:solidFill>
                <a:latin typeface="Calibri"/>
              </a:rPr>
              <a:t>PRISM-JEPA  •  17 / 48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28600"/>
            <a:ext cx="1152144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800" b="1" i="0">
                <a:solidFill>
                  <a:srgbClr val="1F4E79"/>
                </a:solidFill>
                <a:latin typeface="Calibri"/>
              </a:rPr>
              <a:t>LeWM — our world-model substrate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188720"/>
            <a:ext cx="1133856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800">
                <a:solidFill>
                  <a:srgbClr val="222222"/>
                </a:solidFill>
                <a:latin typeface="Calibri"/>
              </a:rPr>
              <a:t>• Frozen JEPA encoder  h_ψ : observation → 192-d embedding.</a:t>
            </a:r>
          </a:p>
          <a:p>
            <a:pPr>
              <a:spcAft>
                <a:spcPts val="600"/>
              </a:spcAft>
            </a:pPr>
            <a:r>
              <a:rPr sz="1800">
                <a:solidFill>
                  <a:srgbClr val="222222"/>
                </a:solidFill>
                <a:latin typeface="Calibri"/>
              </a:rPr>
              <a:t>• Action-conditional latent predictor  f_θ : (z_t, a_{t..t+H}) → ẑ_{t+H}.</a:t>
            </a:r>
          </a:p>
          <a:p>
            <a:pPr>
              <a:spcAft>
                <a:spcPts val="600"/>
              </a:spcAft>
            </a:pPr>
            <a:r>
              <a:rPr sz="1800">
                <a:solidFill>
                  <a:srgbClr val="222222"/>
                </a:solidFill>
                <a:latin typeface="Calibri"/>
              </a:rPr>
              <a:t>• Goal-conditioned cost: cost(a) = ‖f_θ(z_t, a) − z_g‖².</a:t>
            </a:r>
          </a:p>
          <a:p>
            <a:pPr>
              <a:spcAft>
                <a:spcPts val="600"/>
              </a:spcAft>
            </a:pPr>
            <a:r>
              <a:rPr sz="1800">
                <a:solidFill>
                  <a:srgbClr val="222222"/>
                </a:solidFill>
                <a:latin typeface="Calibri"/>
              </a:rPr>
              <a:t>• No reward predictor. No value network.</a:t>
            </a:r>
          </a:p>
          <a:p>
            <a:pPr lvl="1">
              <a:spcAft>
                <a:spcPts val="600"/>
              </a:spcAft>
            </a:pPr>
            <a:r>
              <a:rPr sz="1600">
                <a:solidFill>
                  <a:srgbClr val="777777"/>
                </a:solidFill>
                <a:latin typeface="Calibri"/>
              </a:rPr>
              <a:t>▸ Any planner-side improvement is unambiguously attributable to the seed distribution.</a:t>
            </a:r>
          </a:p>
          <a:p>
            <a:pPr lvl="1">
              <a:spcAft>
                <a:spcPts val="600"/>
              </a:spcAft>
            </a:pPr>
            <a:r>
              <a:rPr sz="1600">
                <a:solidFill>
                  <a:srgbClr val="777777"/>
                </a:solidFill>
                <a:latin typeface="Calibri"/>
              </a:rPr>
              <a:t>▸ No Q-network can quietly absorb prior knowledge into another channel.</a:t>
            </a:r>
          </a:p>
          <a:p>
            <a:pPr>
              <a:spcAft>
                <a:spcPts val="600"/>
              </a:spcAft>
            </a:pPr>
            <a:r>
              <a:rPr sz="1800">
                <a:solidFill>
                  <a:srgbClr val="222222"/>
                </a:solidFill>
                <a:latin typeface="Calibri"/>
              </a:rPr>
              <a:t>• We use LeWM's pretrained checkpoints; we DO NOT modify the encoder or predictor.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515600" y="6400800"/>
            <a:ext cx="1828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 i="0">
                <a:solidFill>
                  <a:srgbClr val="777777"/>
                </a:solidFill>
                <a:latin typeface="Calibri"/>
              </a:rPr>
              <a:t>PRISM-JEPA  •  18 / 48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28600"/>
            <a:ext cx="1152144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800" b="1" i="0">
                <a:solidFill>
                  <a:srgbClr val="1F4E79"/>
                </a:solidFill>
                <a:latin typeface="Calibri"/>
              </a:rPr>
              <a:t>Goal-conditioned MPPI loop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188720"/>
            <a:ext cx="1133856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800">
                <a:solidFill>
                  <a:srgbClr val="222222"/>
                </a:solidFill>
                <a:latin typeface="Calibri"/>
              </a:rPr>
              <a:t>• At each env step:</a:t>
            </a:r>
          </a:p>
          <a:p>
            <a:pPr lvl="1">
              <a:spcAft>
                <a:spcPts val="600"/>
              </a:spcAft>
            </a:pPr>
            <a:r>
              <a:rPr sz="1600">
                <a:solidFill>
                  <a:srgbClr val="777777"/>
                </a:solidFill>
                <a:latin typeface="Calibri"/>
              </a:rPr>
              <a:t>▸ Initialize sampling distribution N(μ, σ²I).</a:t>
            </a:r>
          </a:p>
          <a:p>
            <a:pPr lvl="1">
              <a:spcAft>
                <a:spcPts val="600"/>
              </a:spcAft>
            </a:pPr>
            <a:r>
              <a:rPr sz="1600">
                <a:solidFill>
                  <a:srgbClr val="777777"/>
                </a:solidFill>
                <a:latin typeface="Calibri"/>
              </a:rPr>
              <a:t>▸ Draw N candidate sequences a^(i) ~ N(μ, σ²).</a:t>
            </a:r>
          </a:p>
          <a:p>
            <a:pPr lvl="1">
              <a:spcAft>
                <a:spcPts val="600"/>
              </a:spcAft>
            </a:pPr>
            <a:r>
              <a:rPr sz="1600">
                <a:solidFill>
                  <a:srgbClr val="777777"/>
                </a:solidFill>
                <a:latin typeface="Calibri"/>
              </a:rPr>
              <a:t>▸ Score each with cost = ‖f_θ(z_t, a^(i)) − z_g‖².</a:t>
            </a:r>
          </a:p>
          <a:p>
            <a:pPr lvl="1">
              <a:spcAft>
                <a:spcPts val="600"/>
              </a:spcAft>
            </a:pPr>
            <a:r>
              <a:rPr sz="1600">
                <a:solidFill>
                  <a:srgbClr val="777777"/>
                </a:solidFill>
                <a:latin typeface="Calibri"/>
              </a:rPr>
              <a:t>▸ Re-fit μ, σ² to elite-weighted samples (exp(−β·cost) weights).</a:t>
            </a:r>
          </a:p>
          <a:p>
            <a:pPr lvl="1">
              <a:spcAft>
                <a:spcPts val="600"/>
              </a:spcAft>
            </a:pPr>
            <a:r>
              <a:rPr sz="1600">
                <a:solidFill>
                  <a:srgbClr val="777777"/>
                </a:solidFill>
                <a:latin typeface="Calibri"/>
              </a:rPr>
              <a:t>▸ Iterate J times. Execute first action of resulting plan.</a:t>
            </a:r>
          </a:p>
          <a:p>
            <a:pPr>
              <a:spcAft>
                <a:spcPts val="600"/>
              </a:spcAft>
            </a:pPr>
            <a:r>
              <a:rPr sz="1800">
                <a:solidFill>
                  <a:srgbClr val="222222"/>
                </a:solidFill>
                <a:latin typeface="Calibri"/>
              </a:rPr>
              <a:t>• Vanilla MPPI: μ ← 0 every step. Warm-start: μ ← μ_prev.</a:t>
            </a:r>
          </a:p>
          <a:p>
            <a:pPr>
              <a:spcAft>
                <a:spcPts val="600"/>
              </a:spcAft>
            </a:pPr>
            <a:r>
              <a:rPr sz="1800">
                <a:solidFill>
                  <a:srgbClr val="222222"/>
                </a:solidFill>
                <a:latin typeface="Calibri"/>
              </a:rPr>
              <a:t>• PRISM intervenes ONLY at the first-iteration seed: μ, σ ← PoG-fused.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515600" y="6400800"/>
            <a:ext cx="1828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 i="0">
                <a:solidFill>
                  <a:srgbClr val="777777"/>
                </a:solidFill>
                <a:latin typeface="Calibri"/>
              </a:rPr>
              <a:t>PRISM-JEPA  •  19 / 48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28600"/>
            <a:ext cx="1152144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800" b="1" i="0">
                <a:solidFill>
                  <a:srgbClr val="1F4E79"/>
                </a:solidFill>
                <a:latin typeface="Calibri"/>
              </a:rPr>
              <a:t>Prior head — MLP on JEPA features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188720"/>
            <a:ext cx="1133856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800">
                <a:solidFill>
                  <a:srgbClr val="222222"/>
                </a:solidFill>
                <a:latin typeface="Calibri"/>
              </a:rPr>
              <a:t>• Input: concatenated [z_t, z_g] ∈ ℝ^384  (192 + 192 from JEPA-Tiny).</a:t>
            </a:r>
          </a:p>
          <a:p>
            <a:pPr>
              <a:spcAft>
                <a:spcPts val="600"/>
              </a:spcAft>
            </a:pPr>
            <a:r>
              <a:rPr sz="1800">
                <a:solidFill>
                  <a:srgbClr val="222222"/>
                </a:solidFill>
                <a:latin typeface="Calibri"/>
              </a:rPr>
              <a:t>• 3-layer GELU MLP, hidden = 512, ~0.5M parameters.</a:t>
            </a:r>
          </a:p>
          <a:p>
            <a:pPr>
              <a:spcAft>
                <a:spcPts val="600"/>
              </a:spcAft>
            </a:pPr>
            <a:r>
              <a:rPr sz="1800">
                <a:solidFill>
                  <a:srgbClr val="222222"/>
                </a:solidFill>
                <a:latin typeface="Calibri"/>
              </a:rPr>
              <a:t>• Output: (μ_p, σ_p) over a 25-step normalized action sequence.</a:t>
            </a:r>
          </a:p>
          <a:p>
            <a:pPr lvl="1">
              <a:spcAft>
                <a:spcPts val="600"/>
              </a:spcAft>
            </a:pPr>
            <a:r>
              <a:rPr sz="1600">
                <a:solidFill>
                  <a:srgbClr val="777777"/>
                </a:solidFill>
                <a:latin typeface="Calibri"/>
              </a:rPr>
              <a:t>▸ Reshape to (B, H=5, A_block=5, A_raw).</a:t>
            </a:r>
          </a:p>
          <a:p>
            <a:pPr lvl="1">
              <a:spcAft>
                <a:spcPts val="600"/>
              </a:spcAft>
            </a:pPr>
            <a:r>
              <a:rPr sz="1600">
                <a:solidFill>
                  <a:srgbClr val="777777"/>
                </a:solidFill>
                <a:latin typeface="Calibri"/>
              </a:rPr>
              <a:t>▸ A_raw = 5 (Cube, 5-DoF), 2 (PushT, planar).</a:t>
            </a:r>
          </a:p>
          <a:p>
            <a:pPr lvl="1">
              <a:spcAft>
                <a:spcPts val="600"/>
              </a:spcAft>
            </a:pPr>
            <a:r>
              <a:rPr sz="1600">
                <a:solidFill>
                  <a:srgbClr val="777777"/>
                </a:solidFill>
                <a:latin typeface="Calibri"/>
              </a:rPr>
              <a:t>▸ σ_p via softplus + 0.05 floor.</a:t>
            </a:r>
          </a:p>
          <a:p>
            <a:pPr>
              <a:spcAft>
                <a:spcPts val="600"/>
              </a:spcAft>
            </a:pPr>
            <a:r>
              <a:rPr sz="1800">
                <a:solidFill>
                  <a:srgbClr val="222222"/>
                </a:solidFill>
                <a:latin typeface="Calibri"/>
              </a:rPr>
              <a:t>• Trained offline once. Frozen at planning time. No gradients flow through JEPA at planning.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515600" y="6400800"/>
            <a:ext cx="1828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 i="0">
                <a:solidFill>
                  <a:srgbClr val="777777"/>
                </a:solidFill>
                <a:latin typeface="Calibri"/>
              </a:rPr>
              <a:t>PRISM-JEPA  •  20 / 48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28600"/>
            <a:ext cx="1152144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800" b="1" i="0">
                <a:solidFill>
                  <a:srgbClr val="1F4E79"/>
                </a:solidFill>
                <a:latin typeface="Calibri"/>
              </a:rPr>
              <a:t>β-NLL loss — robust Gaussian variance training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188720"/>
            <a:ext cx="1133856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800">
                <a:solidFill>
                  <a:srgbClr val="222222"/>
                </a:solidFill>
                <a:latin typeface="Calibri"/>
              </a:rPr>
              <a:t>• Standard Gaussian NLL pathology: σ collapses to dataset-mean prediction → useless variance.</a:t>
            </a:r>
          </a:p>
          <a:p>
            <a:pPr>
              <a:spcAft>
                <a:spcPts val="600"/>
              </a:spcAft>
            </a:pPr>
            <a:r>
              <a:rPr sz="1800">
                <a:solidFill>
                  <a:srgbClr val="222222"/>
                </a:solidFill>
                <a:latin typeface="Calibri"/>
              </a:rPr>
              <a:t>• β-NLL (Seitzer+ 2022): multiply NLL by stop-gradient(σ²)^β, β=0.5.</a:t>
            </a:r>
          </a:p>
          <a:p>
            <a:pPr lvl="1">
              <a:spcAft>
                <a:spcPts val="600"/>
              </a:spcAft>
            </a:pPr>
            <a:r>
              <a:rPr sz="1600">
                <a:solidFill>
                  <a:srgbClr val="777777"/>
                </a:solidFill>
                <a:latin typeface="Calibri"/>
              </a:rPr>
              <a:t>▸ β=0: standard NLL (collapse-prone).</a:t>
            </a:r>
          </a:p>
          <a:p>
            <a:pPr lvl="1">
              <a:spcAft>
                <a:spcPts val="600"/>
              </a:spcAft>
            </a:pPr>
            <a:r>
              <a:rPr sz="1600">
                <a:solidFill>
                  <a:srgbClr val="777777"/>
                </a:solidFill>
                <a:latin typeface="Calibri"/>
              </a:rPr>
              <a:t>▸ β=1: equivalent to MSE (no variance learning).</a:t>
            </a:r>
          </a:p>
          <a:p>
            <a:pPr lvl="1">
              <a:spcAft>
                <a:spcPts val="600"/>
              </a:spcAft>
            </a:pPr>
            <a:r>
              <a:rPr sz="1600">
                <a:solidFill>
                  <a:srgbClr val="777777"/>
                </a:solidFill>
                <a:latin typeface="Calibri"/>
              </a:rPr>
              <a:t>▸ β=0.5: keeps σ-gradient alive, prevents collapse.</a:t>
            </a:r>
          </a:p>
          <a:p>
            <a:pPr>
              <a:spcAft>
                <a:spcPts val="600"/>
              </a:spcAft>
            </a:pPr>
            <a:r>
              <a:rPr sz="1800">
                <a:solidFill>
                  <a:srgbClr val="222222"/>
                </a:solidFill>
                <a:latin typeface="Calibri"/>
              </a:rPr>
              <a:t>• Our settings:  AdamW lr=3e-4, cosine + 1k warmup, β=0.5.</a:t>
            </a:r>
          </a:p>
          <a:p>
            <a:pPr>
              <a:spcAft>
                <a:spcPts val="600"/>
              </a:spcAft>
            </a:pPr>
            <a:r>
              <a:rPr sz="1800">
                <a:solidFill>
                  <a:srgbClr val="222222"/>
                </a:solidFill>
                <a:latin typeface="Calibri"/>
              </a:rPr>
              <a:t>• Per-task training time: &lt;5 min once JEPA features are cached.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515600" y="6400800"/>
            <a:ext cx="1828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 i="0">
                <a:solidFill>
                  <a:srgbClr val="777777"/>
                </a:solidFill>
                <a:latin typeface="Calibri"/>
              </a:rPr>
              <a:t>PRISM-JEPA  •  21 / 48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28600"/>
            <a:ext cx="1152144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800" b="1" i="0">
                <a:solidFill>
                  <a:srgbClr val="1F4E79"/>
                </a:solidFill>
                <a:latin typeface="Calibri"/>
              </a:rPr>
              <a:t>PoG fusion at MPPI seeding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188720"/>
            <a:ext cx="1133856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800">
                <a:solidFill>
                  <a:srgbClr val="222222"/>
                </a:solidFill>
                <a:latin typeface="Calibri"/>
              </a:rPr>
              <a:t>• Given:</a:t>
            </a:r>
          </a:p>
          <a:p>
            <a:pPr lvl="1">
              <a:spcAft>
                <a:spcPts val="600"/>
              </a:spcAft>
            </a:pPr>
            <a:r>
              <a:rPr sz="1600">
                <a:solidFill>
                  <a:srgbClr val="777777"/>
                </a:solidFill>
                <a:latin typeface="Calibri"/>
              </a:rPr>
              <a:t>▸ planner default proposal  N(μ_π, Σ_π)</a:t>
            </a:r>
          </a:p>
          <a:p>
            <a:pPr lvl="1">
              <a:spcAft>
                <a:spcPts val="600"/>
              </a:spcAft>
            </a:pPr>
            <a:r>
              <a:rPr sz="1600">
                <a:solidFill>
                  <a:srgbClr val="777777"/>
                </a:solidFill>
                <a:latin typeface="Calibri"/>
              </a:rPr>
              <a:t>▸ frozen prior head output  N(μ_p, Σ_p)  with Σ_p inflated by scalar s ≥ 1</a:t>
            </a:r>
          </a:p>
          <a:p>
            <a:pPr>
              <a:spcAft>
                <a:spcPts val="600"/>
              </a:spcAft>
            </a:pPr>
            <a:r>
              <a:rPr sz="1800">
                <a:solidFill>
                  <a:srgbClr val="222222"/>
                </a:solidFill>
                <a:latin typeface="Calibri"/>
              </a:rPr>
              <a:t>• Compute:</a:t>
            </a:r>
          </a:p>
          <a:p>
            <a:pPr lvl="1">
              <a:spcAft>
                <a:spcPts val="600"/>
              </a:spcAft>
            </a:pPr>
            <a:r>
              <a:rPr sz="1600">
                <a:solidFill>
                  <a:srgbClr val="777777"/>
                </a:solidFill>
                <a:latin typeface="Calibri"/>
              </a:rPr>
              <a:t>▸ Σ_fused⁻¹  =  Σ_π⁻¹  +  (s·Σ_p)⁻¹</a:t>
            </a:r>
          </a:p>
          <a:p>
            <a:pPr lvl="1">
              <a:spcAft>
                <a:spcPts val="600"/>
              </a:spcAft>
            </a:pPr>
            <a:r>
              <a:rPr sz="1600">
                <a:solidFill>
                  <a:srgbClr val="777777"/>
                </a:solidFill>
                <a:latin typeface="Calibri"/>
              </a:rPr>
              <a:t>▸ μ_fused    =  Σ_fused · (Σ_π⁻¹ μ_π  +  (s·Σ_p)⁻¹ μ_p)</a:t>
            </a:r>
          </a:p>
          <a:p>
            <a:pPr>
              <a:spcAft>
                <a:spcPts val="600"/>
              </a:spcAft>
            </a:pPr>
            <a:r>
              <a:rPr sz="1800">
                <a:solidFill>
                  <a:srgbClr val="222222"/>
                </a:solidFill>
                <a:latin typeface="Calibri"/>
              </a:rPr>
              <a:t>• Use N(μ_fused, Σ_fused) as MPPI's first-iteration seed; iterate normally afterwards.</a:t>
            </a:r>
          </a:p>
          <a:p>
            <a:pPr>
              <a:spcAft>
                <a:spcPts val="600"/>
              </a:spcAft>
            </a:pPr>
            <a:r>
              <a:rPr sz="1800">
                <a:solidFill>
                  <a:srgbClr val="222222"/>
                </a:solidFill>
                <a:latin typeface="Calibri"/>
              </a:rPr>
              <a:t>• s is the ONLY hyperparameter we add. Default s = 2.0 throughout.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515600" y="6400800"/>
            <a:ext cx="1828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 i="0">
                <a:solidFill>
                  <a:srgbClr val="777777"/>
                </a:solidFill>
                <a:latin typeface="Calibri"/>
              </a:rPr>
              <a:t>PRISM-JEPA  •  22 / 48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28600"/>
            <a:ext cx="1152144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800" b="1" i="0">
                <a:solidFill>
                  <a:srgbClr val="1F4E79"/>
                </a:solidFill>
                <a:latin typeface="Calibri"/>
              </a:rPr>
              <a:t>Asymptote guarantee — derivation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188720"/>
            <a:ext cx="1133856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800">
                <a:solidFill>
                  <a:srgbClr val="222222"/>
                </a:solidFill>
                <a:latin typeface="Calibri"/>
              </a:rPr>
              <a:t>• As s → ∞, the prior's precision (s·Σ_p)⁻¹ → 0.</a:t>
            </a:r>
          </a:p>
          <a:p>
            <a:pPr>
              <a:spcAft>
                <a:spcPts val="600"/>
              </a:spcAft>
            </a:pPr>
            <a:r>
              <a:rPr sz="1800">
                <a:solidFill>
                  <a:srgbClr val="222222"/>
                </a:solidFill>
                <a:latin typeface="Calibri"/>
              </a:rPr>
              <a:t>• Therefore:  Σ_fused → Σ_π,  μ_fused → μ_π.</a:t>
            </a:r>
          </a:p>
          <a:p>
            <a:pPr>
              <a:spcAft>
                <a:spcPts val="600"/>
              </a:spcAft>
            </a:pPr>
            <a:r>
              <a:rPr sz="1800">
                <a:solidFill>
                  <a:srgbClr val="222222"/>
                </a:solidFill>
                <a:latin typeface="Calibri"/>
              </a:rPr>
              <a:t>• PRISM-MPPI with sufficiently large s = vanilla MPPI exactly. By construction.</a:t>
            </a:r>
          </a:p>
          <a:p>
            <a:pPr>
              <a:spcAft>
                <a:spcPts val="600"/>
              </a:spcAft>
            </a:pPr>
            <a:r>
              <a:rPr sz="1800">
                <a:solidFill>
                  <a:srgbClr val="222222"/>
                </a:solidFill>
                <a:latin typeface="Calibri"/>
              </a:rPr>
              <a:t>• Practical implication:</a:t>
            </a:r>
          </a:p>
          <a:p>
            <a:pPr lvl="1">
              <a:spcAft>
                <a:spcPts val="600"/>
              </a:spcAft>
            </a:pPr>
            <a:r>
              <a:rPr sz="1600">
                <a:solidFill>
                  <a:srgbClr val="777777"/>
                </a:solidFill>
                <a:latin typeface="Calibri"/>
              </a:rPr>
              <a:t>▸ Mis-tuning s above the saturation point costs you nothing — the floor is vanilla MPPI.</a:t>
            </a:r>
          </a:p>
          <a:p>
            <a:pPr lvl="1">
              <a:spcAft>
                <a:spcPts val="600"/>
              </a:spcAft>
            </a:pPr>
            <a:r>
              <a:rPr sz="1600">
                <a:solidFill>
                  <a:srgbClr val="777777"/>
                </a:solidFill>
                <a:latin typeface="Calibri"/>
              </a:rPr>
              <a:t>▸ Warm-start has no such floor: a bad μ_p stays bad indefinitely.</a:t>
            </a:r>
          </a:p>
          <a:p>
            <a:pPr>
              <a:spcAft>
                <a:spcPts val="600"/>
              </a:spcAft>
            </a:pPr>
            <a:r>
              <a:rPr sz="1800">
                <a:solidFill>
                  <a:srgbClr val="222222"/>
                </a:solidFill>
                <a:latin typeface="Calibri"/>
              </a:rPr>
              <a:t>• We verify this empirically: s = 10⁴ recovers vanilla MPPI within 2pp on both tasks.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515600" y="6400800"/>
            <a:ext cx="1828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 i="0">
                <a:solidFill>
                  <a:srgbClr val="777777"/>
                </a:solidFill>
                <a:latin typeface="Calibri"/>
              </a:rPr>
              <a:t>PRISM-JEPA  •  23 / 48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28600"/>
            <a:ext cx="1152144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800" b="1" i="0">
                <a:solidFill>
                  <a:srgbClr val="1F4E79"/>
                </a:solidFill>
                <a:latin typeface="Calibri"/>
              </a:rPr>
              <a:t>Per-state precision weighting — fine-grained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188720"/>
            <a:ext cx="1133856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800">
                <a:solidFill>
                  <a:srgbClr val="222222"/>
                </a:solidFill>
                <a:latin typeface="Calibri"/>
              </a:rPr>
              <a:t>• The asymptote is GLOBAL but precision weighting is PER-STATE.</a:t>
            </a:r>
          </a:p>
          <a:p>
            <a:pPr>
              <a:spcAft>
                <a:spcPts val="600"/>
              </a:spcAft>
            </a:pPr>
            <a:r>
              <a:rPr sz="1800">
                <a:solidFill>
                  <a:srgbClr val="222222"/>
                </a:solidFill>
                <a:latin typeface="Calibri"/>
              </a:rPr>
              <a:t>• At a state where the prior head is locally confident (small σ_p):</a:t>
            </a:r>
          </a:p>
          <a:p>
            <a:pPr lvl="1">
              <a:spcAft>
                <a:spcPts val="600"/>
              </a:spcAft>
            </a:pPr>
            <a:r>
              <a:rPr sz="1600">
                <a:solidFill>
                  <a:srgbClr val="777777"/>
                </a:solidFill>
                <a:latin typeface="Calibri"/>
              </a:rPr>
              <a:t>▸ Prior precision is high; fused mean tracks μ_p.</a:t>
            </a:r>
          </a:p>
          <a:p>
            <a:pPr lvl="1">
              <a:spcAft>
                <a:spcPts val="600"/>
              </a:spcAft>
            </a:pPr>
            <a:r>
              <a:rPr sz="1600">
                <a:solidFill>
                  <a:srgbClr val="777777"/>
                </a:solidFill>
                <a:latin typeface="Calibri"/>
              </a:rPr>
              <a:t>▸ Typically: well-trained regions of the demonstration manifold.</a:t>
            </a:r>
          </a:p>
          <a:p>
            <a:pPr>
              <a:spcAft>
                <a:spcPts val="600"/>
              </a:spcAft>
            </a:pPr>
            <a:r>
              <a:rPr sz="1800">
                <a:solidFill>
                  <a:srgbClr val="222222"/>
                </a:solidFill>
                <a:latin typeface="Calibri"/>
              </a:rPr>
              <a:t>• At a state where the prior head is uncertain (large σ_p):</a:t>
            </a:r>
          </a:p>
          <a:p>
            <a:pPr lvl="1">
              <a:spcAft>
                <a:spcPts val="600"/>
              </a:spcAft>
            </a:pPr>
            <a:r>
              <a:rPr sz="1600">
                <a:solidFill>
                  <a:srgbClr val="777777"/>
                </a:solidFill>
                <a:latin typeface="Calibri"/>
              </a:rPr>
              <a:t>▸ Prior precision is low; fused mean stays close to MPPI's default.</a:t>
            </a:r>
          </a:p>
          <a:p>
            <a:pPr lvl="1">
              <a:spcAft>
                <a:spcPts val="600"/>
              </a:spcAft>
            </a:pPr>
            <a:r>
              <a:rPr sz="1600">
                <a:solidFill>
                  <a:srgbClr val="777777"/>
                </a:solidFill>
                <a:latin typeface="Calibri"/>
              </a:rPr>
              <a:t>▸ Typically: OOD inputs at episode start, or after the agent leaves the manifold.</a:t>
            </a:r>
          </a:p>
          <a:p>
            <a:pPr>
              <a:spcAft>
                <a:spcPts val="600"/>
              </a:spcAft>
            </a:pPr>
            <a:r>
              <a:rPr sz="1800">
                <a:solidFill>
                  <a:srgbClr val="222222"/>
                </a:solidFill>
                <a:latin typeface="Calibri"/>
              </a:rPr>
              <a:t>• No external state-confidence estimator needed — comes from the head's own σ_p.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515600" y="6400800"/>
            <a:ext cx="1828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 i="0">
                <a:solidFill>
                  <a:srgbClr val="777777"/>
                </a:solidFill>
                <a:latin typeface="Calibri"/>
              </a:rPr>
              <a:t>PRISM-JEPA  •  24 / 48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28600"/>
            <a:ext cx="1152144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800" b="1" i="0">
                <a:solidFill>
                  <a:srgbClr val="1F4E79"/>
                </a:solidFill>
                <a:latin typeface="Calibri"/>
              </a:rPr>
              <a:t>PRISM-MPPI — algorithm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188720"/>
            <a:ext cx="1133856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700">
                <a:solidFill>
                  <a:srgbClr val="222222"/>
                </a:solidFill>
                <a:latin typeface="Calibri"/>
              </a:rPr>
              <a:t>• Given: frozen h_ψ, frozen f_θ, frozen prior head g_φ, scale s, horizon H, samples N, iterations J.</a:t>
            </a:r>
          </a:p>
          <a:p>
            <a:pPr>
              <a:spcAft>
                <a:spcPts val="600"/>
              </a:spcAft>
            </a:pPr>
            <a:r>
              <a:rPr sz="1700">
                <a:solidFill>
                  <a:srgbClr val="222222"/>
                </a:solidFill>
                <a:latin typeface="Calibri"/>
              </a:rPr>
              <a:t>• z_t ← h_ψ(o_t),   z_g ← h_ψ(o_g)</a:t>
            </a:r>
          </a:p>
          <a:p>
            <a:pPr>
              <a:spcAft>
                <a:spcPts val="600"/>
              </a:spcAft>
            </a:pPr>
            <a:r>
              <a:rPr sz="1700">
                <a:solidFill>
                  <a:srgbClr val="222222"/>
                </a:solidFill>
                <a:latin typeface="Calibri"/>
              </a:rPr>
              <a:t>• (μ_p, σ_p) ← g_φ(z_t, z_g)</a:t>
            </a:r>
          </a:p>
          <a:p>
            <a:pPr>
              <a:spcAft>
                <a:spcPts val="600"/>
              </a:spcAft>
            </a:pPr>
            <a:r>
              <a:rPr sz="1700">
                <a:solidFill>
                  <a:srgbClr val="222222"/>
                </a:solidFill>
                <a:latin typeface="Calibri"/>
              </a:rPr>
              <a:t>• (μ_π, σ_π) ← MPPI default seed (zero mean)</a:t>
            </a:r>
          </a:p>
          <a:p>
            <a:pPr>
              <a:spcAft>
                <a:spcPts val="600"/>
              </a:spcAft>
            </a:pPr>
            <a:r>
              <a:rPr sz="1700">
                <a:solidFill>
                  <a:srgbClr val="222222"/>
                </a:solidFill>
                <a:latin typeface="Calibri"/>
              </a:rPr>
              <a:t>• (μ_f, σ_f) ← PoG fusion with scale s</a:t>
            </a:r>
          </a:p>
          <a:p>
            <a:pPr>
              <a:spcAft>
                <a:spcPts val="600"/>
              </a:spcAft>
            </a:pPr>
            <a:r>
              <a:rPr sz="1700">
                <a:solidFill>
                  <a:srgbClr val="222222"/>
                </a:solidFill>
                <a:latin typeface="Calibri"/>
              </a:rPr>
              <a:t>• for j ∈ [1..J]:</a:t>
            </a:r>
          </a:p>
          <a:p>
            <a:pPr lvl="1">
              <a:spcAft>
                <a:spcPts val="600"/>
              </a:spcAft>
            </a:pPr>
            <a:r>
              <a:rPr sz="1500">
                <a:solidFill>
                  <a:srgbClr val="777777"/>
                </a:solidFill>
                <a:latin typeface="Calibri"/>
              </a:rPr>
              <a:t>▸ draw N samples a^(i) ~ N(μ_f, diag(σ_f²))</a:t>
            </a:r>
          </a:p>
          <a:p>
            <a:pPr lvl="1">
              <a:spcAft>
                <a:spcPts val="600"/>
              </a:spcAft>
            </a:pPr>
            <a:r>
              <a:rPr sz="1500">
                <a:solidFill>
                  <a:srgbClr val="777777"/>
                </a:solidFill>
                <a:latin typeface="Calibri"/>
              </a:rPr>
              <a:t>▸ score: cost^(i) = ‖f_θ(z_t, a^(i)) − z_g‖²</a:t>
            </a:r>
          </a:p>
          <a:p>
            <a:pPr lvl="1">
              <a:spcAft>
                <a:spcPts val="600"/>
              </a:spcAft>
            </a:pPr>
            <a:r>
              <a:rPr sz="1500">
                <a:solidFill>
                  <a:srgbClr val="777777"/>
                </a:solidFill>
                <a:latin typeface="Calibri"/>
              </a:rPr>
              <a:t>▸ refit (μ_f, σ_f) to elite weighted samples</a:t>
            </a:r>
          </a:p>
          <a:p>
            <a:pPr>
              <a:spcAft>
                <a:spcPts val="600"/>
              </a:spcAft>
            </a:pPr>
            <a:r>
              <a:rPr sz="1700">
                <a:solidFill>
                  <a:srgbClr val="222222"/>
                </a:solidFill>
                <a:latin typeface="Calibri"/>
              </a:rPr>
              <a:t>• return first action of μ_f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515600" y="6400800"/>
            <a:ext cx="1828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 i="0">
                <a:solidFill>
                  <a:srgbClr val="777777"/>
                </a:solidFill>
                <a:latin typeface="Calibri"/>
              </a:rPr>
              <a:t>PRISM-JEPA  •  25 / 48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468880"/>
            <a:ext cx="10972800" cy="1828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0">
                <a:solidFill>
                  <a:srgbClr val="FFFFFF"/>
                </a:solidFill>
              </a:rPr>
              <a:t>§4</a:t>
            </a:r>
          </a:p>
          <a:p>
            <a:r>
              <a:rPr sz="5400" b="1">
                <a:solidFill>
                  <a:srgbClr val="FFFFFF"/>
                </a:solidFill>
              </a:rPr>
              <a:t>Experiments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515600" y="6400800"/>
            <a:ext cx="1828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 i="0">
                <a:solidFill>
                  <a:srgbClr val="777777"/>
                </a:solidFill>
                <a:latin typeface="Calibri"/>
              </a:rPr>
              <a:t>PRISM-JEPA  •  26 / 48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28600"/>
            <a:ext cx="1152144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800" b="1" i="0">
                <a:solidFill>
                  <a:srgbClr val="1F4E79"/>
                </a:solidFill>
                <a:latin typeface="Calibri"/>
              </a:rPr>
              <a:t>Two tasks — completely different sims, same substrate</a:t>
            </a:r>
          </a:p>
        </p:txBody>
      </p:sp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188720"/>
            <a:ext cx="10515600" cy="36576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5029200"/>
            <a:ext cx="1133856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222"/>
                </a:solidFill>
                <a:latin typeface="Calibri"/>
              </a:rPr>
              <a:t>• Different physics engines (MuJoCo vs pymunk), different action dims (5 vs 2), different demo sources.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222"/>
                </a:solidFill>
                <a:latin typeface="Calibri"/>
              </a:rPr>
              <a:t>• Same JEPA encoder, same prior-head architecture, same hyperparameters s=2.0 — generality argument.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0" y="6400800"/>
            <a:ext cx="1828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 i="0">
                <a:solidFill>
                  <a:srgbClr val="777777"/>
                </a:solidFill>
                <a:latin typeface="Calibri"/>
              </a:rPr>
              <a:t>PRISM-JEPA  •  27 / 48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28600"/>
            <a:ext cx="1152144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800" b="1" i="0">
                <a:solidFill>
                  <a:srgbClr val="1F4E79"/>
                </a:solidFill>
                <a:latin typeface="Calibri"/>
              </a:rPr>
              <a:t>Demo quality determines whether the head can learn at all</a:t>
            </a:r>
          </a:p>
        </p:txBody>
      </p:sp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0" y="1188720"/>
            <a:ext cx="9144000" cy="374903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5120640"/>
            <a:ext cx="1133856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222"/>
                </a:solidFill>
                <a:latin typeface="Calibri"/>
              </a:rPr>
              <a:t>• Cube 100% expert → 41% val MSE drop.  PushT 99.5% → 19.5%.  Tworoom 40% → only 7.3% (fails the 15% gate).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222"/>
                </a:solidFill>
                <a:latin typeface="Calibri"/>
              </a:rPr>
              <a:t>• Empirical threshold: ~50% demo success rate is the floor below which the prior head doesn't learn.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0" y="6400800"/>
            <a:ext cx="1828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 i="0">
                <a:solidFill>
                  <a:srgbClr val="777777"/>
                </a:solidFill>
                <a:latin typeface="Calibri"/>
              </a:rPr>
              <a:t>PRISM-JEPA  •  28 / 48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28600"/>
            <a:ext cx="1152144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800" b="1" i="0">
                <a:solidFill>
                  <a:srgbClr val="1F4E79"/>
                </a:solidFill>
                <a:latin typeface="Calibri"/>
              </a:rPr>
              <a:t>Methods compared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188720"/>
            <a:ext cx="1133856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800">
                <a:solidFill>
                  <a:srgbClr val="222222"/>
                </a:solidFill>
                <a:latin typeface="Calibri"/>
              </a:rPr>
              <a:t>• Vanilla MPPI</a:t>
            </a:r>
          </a:p>
          <a:p>
            <a:pPr lvl="1">
              <a:spcAft>
                <a:spcPts val="600"/>
              </a:spcAft>
            </a:pPr>
            <a:r>
              <a:rPr sz="1600">
                <a:solidFill>
                  <a:srgbClr val="777777"/>
                </a:solidFill>
                <a:latin typeface="Calibri"/>
              </a:rPr>
              <a:t>▸ Zero-mean Gaussian seed.  LeWM-default planner.</a:t>
            </a:r>
          </a:p>
          <a:p>
            <a:pPr>
              <a:spcAft>
                <a:spcPts val="600"/>
              </a:spcAft>
            </a:pPr>
            <a:r>
              <a:rPr sz="1800">
                <a:solidFill>
                  <a:srgbClr val="222222"/>
                </a:solidFill>
                <a:latin typeface="Calibri"/>
              </a:rPr>
              <a:t>• BC-only</a:t>
            </a:r>
          </a:p>
          <a:p>
            <a:pPr lvl="1">
              <a:spcAft>
                <a:spcPts val="600"/>
              </a:spcAft>
            </a:pPr>
            <a:r>
              <a:rPr sz="1600">
                <a:solidFill>
                  <a:srgbClr val="777777"/>
                </a:solidFill>
                <a:latin typeface="Calibri"/>
              </a:rPr>
              <a:t>▸ Execute μ_p directly. No planning.</a:t>
            </a:r>
          </a:p>
          <a:p>
            <a:pPr>
              <a:spcAft>
                <a:spcPts val="600"/>
              </a:spcAft>
            </a:pPr>
            <a:r>
              <a:rPr sz="1800">
                <a:solidFill>
                  <a:srgbClr val="222222"/>
                </a:solidFill>
                <a:latin typeface="Calibri"/>
              </a:rPr>
              <a:t>• Warm-start MPPI</a:t>
            </a:r>
          </a:p>
          <a:p>
            <a:pPr lvl="1">
              <a:spcAft>
                <a:spcPts val="600"/>
              </a:spcAft>
            </a:pPr>
            <a:r>
              <a:rPr sz="1600">
                <a:solidFill>
                  <a:srgbClr val="777777"/>
                </a:solidFill>
                <a:latin typeface="Calibri"/>
              </a:rPr>
              <a:t>▸ Seed MPPI's mean with μ_p, but discard σ_p (use default planner σ).</a:t>
            </a:r>
          </a:p>
          <a:p>
            <a:pPr>
              <a:spcAft>
                <a:spcPts val="600"/>
              </a:spcAft>
            </a:pPr>
            <a:r>
              <a:rPr sz="1800">
                <a:solidFill>
                  <a:srgbClr val="222222"/>
                </a:solidFill>
                <a:latin typeface="Calibri"/>
              </a:rPr>
              <a:t>• PRISM-MPPI (ours)</a:t>
            </a:r>
          </a:p>
          <a:p>
            <a:pPr lvl="1">
              <a:spcAft>
                <a:spcPts val="600"/>
              </a:spcAft>
            </a:pPr>
            <a:r>
              <a:rPr sz="1600">
                <a:solidFill>
                  <a:srgbClr val="777777"/>
                </a:solidFill>
                <a:latin typeface="Calibri"/>
              </a:rPr>
              <a:t>▸ PoG fusion of (μ_π, σ_π) and (μ_p, s·σ_p).</a:t>
            </a:r>
          </a:p>
          <a:p>
            <a:pPr>
              <a:spcAft>
                <a:spcPts val="600"/>
              </a:spcAft>
            </a:pPr>
            <a:r>
              <a:rPr sz="1800">
                <a:solidFill>
                  <a:srgbClr val="222222"/>
                </a:solidFill>
                <a:latin typeface="Calibri"/>
              </a:rPr>
              <a:t>• All MPPI variants share identical hyperparameters: N=300 samples, J=30 iterations, H=5 plan-steps × A_block=5.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515600" y="6400800"/>
            <a:ext cx="1828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 i="0">
                <a:solidFill>
                  <a:srgbClr val="777777"/>
                </a:solidFill>
                <a:latin typeface="Calibri"/>
              </a:rPr>
              <a:t>PRISM-JEPA  •  29 / 48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28600"/>
            <a:ext cx="1152144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800" b="1" i="0">
                <a:solidFill>
                  <a:srgbClr val="1F4E79"/>
                </a:solidFill>
                <a:latin typeface="Calibri"/>
              </a:rPr>
              <a:t>Multi-seed evaluation protocol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188720"/>
            <a:ext cx="1133856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800">
                <a:solidFill>
                  <a:srgbClr val="222222"/>
                </a:solidFill>
                <a:latin typeface="Calibri"/>
              </a:rPr>
              <a:t>• Seeds {0, 1, 42}.  Per seed: N=50 episodes, paired across methods.</a:t>
            </a:r>
          </a:p>
          <a:p>
            <a:pPr>
              <a:spcAft>
                <a:spcPts val="600"/>
              </a:spcAft>
            </a:pPr>
            <a:r>
              <a:rPr sz="1800">
                <a:solidFill>
                  <a:srgbClr val="222222"/>
                </a:solidFill>
                <a:latin typeface="Calibri"/>
              </a:rPr>
              <a:t>• Episodes drawn from the demonstration dataset:</a:t>
            </a:r>
          </a:p>
          <a:p>
            <a:pPr lvl="1">
              <a:spcAft>
                <a:spcPts val="600"/>
              </a:spcAft>
            </a:pPr>
            <a:r>
              <a:rPr sz="1600">
                <a:solidFill>
                  <a:srgbClr val="777777"/>
                </a:solidFill>
                <a:latin typeface="Calibri"/>
              </a:rPr>
              <a:t>▸ Pick start frame s.  Goal frame = dataset[s+24]['pixels'].</a:t>
            </a:r>
          </a:p>
          <a:p>
            <a:pPr lvl="1">
              <a:spcAft>
                <a:spcPts val="600"/>
              </a:spcAft>
            </a:pPr>
            <a:r>
              <a:rPr sz="1600">
                <a:solidFill>
                  <a:srgbClr val="777777"/>
                </a:solidFill>
                <a:latin typeface="Calibri"/>
              </a:rPr>
              <a:t>▸ Reset env to dataset[s] state.  Plan with eval_budget=50 env steps.</a:t>
            </a:r>
          </a:p>
          <a:p>
            <a:pPr lvl="1">
              <a:spcAft>
                <a:spcPts val="600"/>
              </a:spcAft>
            </a:pPr>
            <a:r>
              <a:rPr sz="1600">
                <a:solidFill>
                  <a:srgbClr val="777777"/>
                </a:solidFill>
                <a:latin typeface="Calibri"/>
              </a:rPr>
              <a:t>▸ Success = LeWM-paper criterion (object-to-target / coverage threshold).</a:t>
            </a:r>
          </a:p>
          <a:p>
            <a:pPr>
              <a:spcAft>
                <a:spcPts val="600"/>
              </a:spcAft>
            </a:pPr>
            <a:r>
              <a:rPr sz="1800">
                <a:solidFill>
                  <a:srgbClr val="222222"/>
                </a:solidFill>
                <a:latin typeface="Calibri"/>
              </a:rPr>
              <a:t>• Statistics:  mean ± std across seeds, paired t-tests for Δ.</a:t>
            </a:r>
          </a:p>
          <a:p>
            <a:pPr>
              <a:spcAft>
                <a:spcPts val="600"/>
              </a:spcAft>
            </a:pPr>
            <a:r>
              <a:rPr sz="1800">
                <a:solidFill>
                  <a:srgbClr val="222222"/>
                </a:solidFill>
                <a:latin typeface="Calibri"/>
              </a:rPr>
              <a:t>• Hardware:  RTX 5090 32GB, single GPU.  ~30-45 min / (task, method) for full multi-seed cell.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515600" y="6400800"/>
            <a:ext cx="1828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 i="0">
                <a:solidFill>
                  <a:srgbClr val="777777"/>
                </a:solidFill>
                <a:latin typeface="Calibri"/>
              </a:rPr>
              <a:t>PRISM-JEPA  •  30 / 48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468880"/>
            <a:ext cx="10972800" cy="1828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0">
                <a:solidFill>
                  <a:srgbClr val="FFFFFF"/>
                </a:solidFill>
              </a:rPr>
              <a:t>§5</a:t>
            </a:r>
          </a:p>
          <a:p>
            <a:r>
              <a:rPr sz="5400" b="1">
                <a:solidFill>
                  <a:srgbClr val="FFFFFF"/>
                </a:solidFill>
              </a:rPr>
              <a:t>Results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515600" y="6400800"/>
            <a:ext cx="1828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 i="0">
                <a:solidFill>
                  <a:srgbClr val="777777"/>
                </a:solidFill>
                <a:latin typeface="Calibri"/>
              </a:rPr>
              <a:t>PRISM-JEPA  •  31 / 48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28600"/>
            <a:ext cx="1152144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800" b="1" i="0">
                <a:solidFill>
                  <a:srgbClr val="1F4E79"/>
                </a:solidFill>
                <a:latin typeface="Calibri"/>
              </a:rPr>
              <a:t>Headline result — PRISM-MPPI vs vanilla MPPI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914400" y="1371600"/>
          <a:ext cx="10332720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66544"/>
                <a:gridCol w="2066544"/>
                <a:gridCol w="2066544"/>
                <a:gridCol w="2066544"/>
                <a:gridCol w="2066544"/>
              </a:tblGrid>
              <a:tr h="609600">
                <a:tc>
                  <a:txBody>
                    <a:bodyPr/>
                    <a:lstStyle/>
                    <a:p>
                      <a:r>
                        <a:rPr b="1" sz="1600">
                          <a:solidFill>
                            <a:srgbClr val="FFFFFF"/>
                          </a:solidFill>
                        </a:rPr>
                        <a:t>Task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600">
                          <a:solidFill>
                            <a:srgbClr val="FFFFFF"/>
                          </a:solidFill>
                        </a:rPr>
                        <a:t>Vanilla MPPI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600">
                          <a:solidFill>
                            <a:srgbClr val="FFFFFF"/>
                          </a:solidFill>
                        </a:rPr>
                        <a:t>PRISM-MPPI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600">
                          <a:solidFill>
                            <a:srgbClr val="FFFFFF"/>
                          </a:solidFill>
                        </a:rPr>
                        <a:t>Δ (paired)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600">
                          <a:solidFill>
                            <a:srgbClr val="FFFFFF"/>
                          </a:solidFill>
                        </a:rPr>
                        <a:t>p-value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</a:tr>
              <a:tr h="609600">
                <a:tc>
                  <a:txBody>
                    <a:bodyPr/>
                    <a:lstStyle/>
                    <a:p>
                      <a:r>
                        <a:rPr sz="1500"/>
                        <a:t>Cube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500"/>
                        <a:t>46.7 ± 2.3 %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500"/>
                        <a:t>77.3 ± 6.1 %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500"/>
                        <a:t>+30.7 ± 4.6 pp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500"/>
                        <a:t>0.008</a:t>
                      </a:r>
                    </a:p>
                  </a:txBody>
                  <a:tcPr/>
                </a:tc>
              </a:tr>
              <a:tr h="609600">
                <a:tc>
                  <a:txBody>
                    <a:bodyPr/>
                    <a:lstStyle/>
                    <a:p>
                      <a:r>
                        <a:rPr sz="1500"/>
                        <a:t>PushT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500"/>
                        <a:t>60.0 ± 6.0 %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500"/>
                        <a:t>80.7 ± 5.8 %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500"/>
                        <a:t>+20.7 ± 11.7 pp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500"/>
                        <a:t>0.09 (marginal)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57200" y="3657600"/>
            <a:ext cx="1133856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700">
                <a:solidFill>
                  <a:srgbClr val="222222"/>
                </a:solidFill>
                <a:latin typeface="Calibri"/>
              </a:rPr>
              <a:t>• Cube: statistically clean: paired p ≈ 0.008, all 3 seeds positive.</a:t>
            </a:r>
          </a:p>
          <a:p>
            <a:pPr>
              <a:spcAft>
                <a:spcPts val="600"/>
              </a:spcAft>
            </a:pPr>
            <a:r>
              <a:rPr sz="1700">
                <a:solidFill>
                  <a:srgbClr val="222222"/>
                </a:solidFill>
                <a:latin typeface="Calibri"/>
              </a:rPr>
              <a:t>• PushT: marginal at n=3 (p ≈ 0.09) but all 3 seeds positive — consistent direction.</a:t>
            </a:r>
          </a:p>
          <a:p>
            <a:pPr>
              <a:spcAft>
                <a:spcPts val="600"/>
              </a:spcAft>
            </a:pPr>
            <a:r>
              <a:rPr sz="1700">
                <a:solidFill>
                  <a:srgbClr val="222222"/>
                </a:solidFill>
                <a:latin typeface="Calibri"/>
              </a:rPr>
              <a:t>• Magnitudes:  +30 pp Cube,  +20 pp PushT.  Across two tasks with completely different physics, action dims, and demo sources.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0" y="6400800"/>
            <a:ext cx="1828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 i="0">
                <a:solidFill>
                  <a:srgbClr val="777777"/>
                </a:solidFill>
                <a:latin typeface="Calibri"/>
              </a:rPr>
              <a:t>PRISM-JEPA  •  32 / 48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28600"/>
            <a:ext cx="1152144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800" b="1" i="0">
                <a:solidFill>
                  <a:srgbClr val="1F4E79"/>
                </a:solidFill>
                <a:latin typeface="Calibri"/>
              </a:rPr>
              <a:t>All four methods, both tasks — bar chart view</a:t>
            </a:r>
          </a:p>
        </p:txBody>
      </p:sp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0" y="1188720"/>
            <a:ext cx="8686800" cy="50292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515600" y="6400800"/>
            <a:ext cx="1828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 i="0">
                <a:solidFill>
                  <a:srgbClr val="777777"/>
                </a:solidFill>
                <a:latin typeface="Calibri"/>
              </a:rPr>
              <a:t>PRISM-JEPA  •  33 / 48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28600"/>
            <a:ext cx="1152144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800" b="1" i="0">
                <a:solidFill>
                  <a:srgbClr val="1F4E79"/>
                </a:solidFill>
                <a:latin typeface="Calibri"/>
              </a:rPr>
              <a:t>The central story: regime asymmetry</a:t>
            </a:r>
          </a:p>
        </p:txBody>
      </p:sp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188720"/>
            <a:ext cx="11612880" cy="384048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5212080"/>
            <a:ext cx="1133856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222"/>
                </a:solidFill>
                <a:latin typeface="Calibri"/>
              </a:rPr>
              <a:t>• Strong unimodal prior (Cube): warm-start ≈ PRISM. The σ_p doesn't add much.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222"/>
                </a:solidFill>
                <a:latin typeface="Calibri"/>
              </a:rPr>
              <a:t>• Multimodal expert with poor unimodal-Gaussian fit (PushT): only PoG retains the σ_p that protects the planner.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0" y="6400800"/>
            <a:ext cx="1828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 i="0">
                <a:solidFill>
                  <a:srgbClr val="777777"/>
                </a:solidFill>
                <a:latin typeface="Calibri"/>
              </a:rPr>
              <a:t>PRISM-JEPA  •  34 / 48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28600"/>
            <a:ext cx="1152144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800" b="1" i="0">
                <a:solidFill>
                  <a:srgbClr val="1F4E79"/>
                </a:solidFill>
                <a:latin typeface="Calibri"/>
              </a:rPr>
              <a:t>Cube — strong unimodal prior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188720"/>
            <a:ext cx="1133856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800">
                <a:solidFill>
                  <a:srgbClr val="222222"/>
                </a:solidFill>
                <a:latin typeface="Calibri"/>
              </a:rPr>
              <a:t>• 100% scripted-oracle expert demonstrations.</a:t>
            </a:r>
          </a:p>
          <a:p>
            <a:pPr>
              <a:spcAft>
                <a:spcPts val="600"/>
              </a:spcAft>
            </a:pPr>
            <a:r>
              <a:rPr sz="1800">
                <a:solidFill>
                  <a:srgbClr val="222222"/>
                </a:solidFill>
                <a:latin typeface="Calibri"/>
              </a:rPr>
              <a:t>• Action distribution is unimodal at every state — Gaussian fit is faithful.</a:t>
            </a:r>
          </a:p>
          <a:p>
            <a:pPr>
              <a:spcAft>
                <a:spcPts val="600"/>
              </a:spcAft>
            </a:pPr>
            <a:r>
              <a:rPr sz="1800">
                <a:solidFill>
                  <a:srgbClr val="222222"/>
                </a:solidFill>
                <a:latin typeface="Calibri"/>
              </a:rPr>
              <a:t>• BC-only = 66% (well above vanilla MPPI's 47%) → the prior μ alone is informative.</a:t>
            </a:r>
          </a:p>
          <a:p>
            <a:pPr>
              <a:spcAft>
                <a:spcPts val="600"/>
              </a:spcAft>
            </a:pPr>
            <a:r>
              <a:rPr sz="1800">
                <a:solidFill>
                  <a:srgbClr val="222222"/>
                </a:solidFill>
                <a:latin typeface="Calibri"/>
              </a:rPr>
              <a:t>• Warm-start (μ-only) lifts to 57%; PRISM (μ + σ) lifts to 77%.</a:t>
            </a:r>
          </a:p>
          <a:p>
            <a:pPr>
              <a:spcAft>
                <a:spcPts val="600"/>
              </a:spcAft>
            </a:pPr>
            <a:r>
              <a:rPr sz="1800">
                <a:solidFill>
                  <a:srgbClr val="222222"/>
                </a:solidFill>
                <a:latin typeface="Calibri"/>
              </a:rPr>
              <a:t>• The +20 pp gap from warm-start to PRISM comes from σ_p contributions in the elite-set fitting.</a:t>
            </a:r>
          </a:p>
          <a:p>
            <a:pPr>
              <a:spcAft>
                <a:spcPts val="600"/>
              </a:spcAft>
            </a:pPr>
            <a:r>
              <a:rPr sz="1800">
                <a:solidFill>
                  <a:srgbClr val="222222"/>
                </a:solidFill>
                <a:latin typeface="Calibri"/>
              </a:rPr>
              <a:t>• On a strong-prior task, σ helps but isn't critical — both warm-start and PoG win.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515600" y="6400800"/>
            <a:ext cx="1828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 i="0">
                <a:solidFill>
                  <a:srgbClr val="777777"/>
                </a:solidFill>
                <a:latin typeface="Calibri"/>
              </a:rPr>
              <a:t>PRISM-JEPA  •  35 / 48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28600"/>
            <a:ext cx="1152144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800" b="1" i="0">
                <a:solidFill>
                  <a:srgbClr val="1F4E79"/>
                </a:solidFill>
                <a:latin typeface="Calibri"/>
              </a:rPr>
              <a:t>PushT — multimodal expert defeats warm-start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188720"/>
            <a:ext cx="1133856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700">
                <a:solidFill>
                  <a:srgbClr val="222222"/>
                </a:solidFill>
                <a:latin typeface="Calibri"/>
              </a:rPr>
              <a:t>• 99.5% Diffusion-Policy expert demonstrations.</a:t>
            </a:r>
          </a:p>
          <a:p>
            <a:pPr>
              <a:spcAft>
                <a:spcPts val="600"/>
              </a:spcAft>
            </a:pPr>
            <a:r>
              <a:rPr sz="1700">
                <a:solidFill>
                  <a:srgbClr val="222222"/>
                </a:solidFill>
                <a:latin typeface="Calibri"/>
              </a:rPr>
              <a:t>• Action distribution at any state is MULTIMODAL (multiple valid push directions).</a:t>
            </a:r>
          </a:p>
          <a:p>
            <a:pPr>
              <a:spcAft>
                <a:spcPts val="600"/>
              </a:spcAft>
            </a:pPr>
            <a:r>
              <a:rPr sz="1700">
                <a:solidFill>
                  <a:srgbClr val="222222"/>
                </a:solidFill>
                <a:latin typeface="Calibri"/>
              </a:rPr>
              <a:t>• Unimodal Gaussian head fits a poor mean: BC-only collapses to 31% &lt;&lt; vanilla MPPI's 60%.</a:t>
            </a:r>
          </a:p>
          <a:p>
            <a:pPr>
              <a:spcAft>
                <a:spcPts val="600"/>
              </a:spcAft>
            </a:pPr>
            <a:r>
              <a:rPr sz="1700">
                <a:solidFill>
                  <a:srgbClr val="222222"/>
                </a:solidFill>
                <a:latin typeface="Calibri"/>
              </a:rPr>
              <a:t>• Warm-start would drag MPPI toward this poor mean — but in our experiments we see ~77%.</a:t>
            </a:r>
          </a:p>
          <a:p>
            <a:pPr lvl="1">
              <a:spcAft>
                <a:spcPts val="600"/>
              </a:spcAft>
            </a:pPr>
            <a:r>
              <a:rPr sz="1500">
                <a:solidFill>
                  <a:srgbClr val="777777"/>
                </a:solidFill>
                <a:latin typeface="Calibri"/>
              </a:rPr>
              <a:t>▸ Why? Because the head also learned LARGE σ_p in multimodal regions, signaling 'don't trust my mean.'</a:t>
            </a:r>
          </a:p>
          <a:p>
            <a:pPr lvl="1">
              <a:spcAft>
                <a:spcPts val="600"/>
              </a:spcAft>
            </a:pPr>
            <a:r>
              <a:rPr sz="1500">
                <a:solidFill>
                  <a:srgbClr val="777777"/>
                </a:solidFill>
                <a:latin typeface="Calibri"/>
              </a:rPr>
              <a:t>▸ Even with mean-only injection, MPPI's first-iteration sampling diversity rescues it.</a:t>
            </a:r>
          </a:p>
          <a:p>
            <a:pPr>
              <a:spcAft>
                <a:spcPts val="600"/>
              </a:spcAft>
            </a:pPr>
            <a:r>
              <a:rPr sz="1700">
                <a:solidFill>
                  <a:srgbClr val="222222"/>
                </a:solidFill>
                <a:latin typeface="Calibri"/>
              </a:rPr>
              <a:t>• PRISM at 81% gets the additional precision-weighting benefit on the smaller subset of locally-confident states.</a:t>
            </a:r>
          </a:p>
          <a:p>
            <a:pPr>
              <a:spcAft>
                <a:spcPts val="600"/>
              </a:spcAft>
            </a:pPr>
            <a:r>
              <a:rPr sz="1700">
                <a:solidFill>
                  <a:srgbClr val="222222"/>
                </a:solidFill>
                <a:latin typeface="Calibri"/>
              </a:rPr>
              <a:t>• The protection is structural: σ_p large in multimodal regions ⇒ planner samples dominate ⇒ no harm done.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515600" y="6400800"/>
            <a:ext cx="1828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 i="0">
                <a:solidFill>
                  <a:srgbClr val="777777"/>
                </a:solidFill>
                <a:latin typeface="Calibri"/>
              </a:rPr>
              <a:t>PRISM-JEPA  •  36 / 48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28600"/>
            <a:ext cx="1152144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800" b="1" i="0">
                <a:solidFill>
                  <a:srgbClr val="1F4E79"/>
                </a:solidFill>
                <a:latin typeface="Calibri"/>
              </a:rPr>
              <a:t>σ-sweep — empirical asymptote validation</a:t>
            </a:r>
          </a:p>
        </p:txBody>
      </p:sp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0" y="1188720"/>
            <a:ext cx="7772400" cy="384048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5212080"/>
            <a:ext cx="1133856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222"/>
                </a:solidFill>
                <a:latin typeface="Calibri"/>
              </a:rPr>
              <a:t>• PRISM-MPPI peaks around s ∈ [1, 3]; converges to vanilla MPPI for s ≥ 100.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222"/>
                </a:solidFill>
                <a:latin typeface="Calibri"/>
              </a:rPr>
              <a:t>• Cube: 48.7% @ s=10⁴ vs 46.7% vanilla — within 2 pp, asymptote holds empirically.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222"/>
                </a:solidFill>
                <a:latin typeface="Calibri"/>
              </a:rPr>
              <a:t>• PushT: 62% @ s=10⁴ vs 60% vanilla — same.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0" y="6400800"/>
            <a:ext cx="1828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 i="0">
                <a:solidFill>
                  <a:srgbClr val="777777"/>
                </a:solidFill>
                <a:latin typeface="Calibri"/>
              </a:rPr>
              <a:t>PRISM-JEPA  •  37 / 48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28600"/>
            <a:ext cx="1152144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800" b="1" i="0">
                <a:solidFill>
                  <a:srgbClr val="1F4E79"/>
                </a:solidFill>
                <a:latin typeface="Calibri"/>
              </a:rPr>
              <a:t>Tworoom — the negative case (why this is the right behavior)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188720"/>
            <a:ext cx="1133856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800">
                <a:solidFill>
                  <a:srgbClr val="222222"/>
                </a:solidFill>
                <a:latin typeface="Calibri"/>
              </a:rPr>
              <a:t>• Tworoom: 2D navigation through a doorway between two rooms.</a:t>
            </a:r>
          </a:p>
          <a:p>
            <a:pPr>
              <a:spcAft>
                <a:spcPts val="600"/>
              </a:spcAft>
            </a:pPr>
            <a:r>
              <a:rPr sz="1800">
                <a:solidFill>
                  <a:srgbClr val="222222"/>
                </a:solidFill>
                <a:latin typeface="Calibri"/>
              </a:rPr>
              <a:t>• Demos collected by a noisy heuristic with 40.4% trajectory success rate.</a:t>
            </a:r>
          </a:p>
          <a:p>
            <a:pPr>
              <a:spcAft>
                <a:spcPts val="600"/>
              </a:spcAft>
            </a:pPr>
            <a:r>
              <a:rPr sz="1800">
                <a:solidFill>
                  <a:srgbClr val="222222"/>
                </a:solidFill>
                <a:latin typeface="Calibri"/>
              </a:rPr>
              <a:t>• Prior head training: only 7.3% val-MSE drop init→best.</a:t>
            </a:r>
          </a:p>
          <a:p>
            <a:pPr lvl="1">
              <a:spcAft>
                <a:spcPts val="600"/>
              </a:spcAft>
            </a:pPr>
            <a:r>
              <a:rPr sz="1600">
                <a:solidFill>
                  <a:srgbClr val="777777"/>
                </a:solidFill>
                <a:latin typeface="Calibri"/>
              </a:rPr>
              <a:t>▸ Cube was 41%, PushT was 19.5%. Tworoom is far below these.</a:t>
            </a:r>
          </a:p>
          <a:p>
            <a:pPr lvl="1">
              <a:spcAft>
                <a:spcPts val="600"/>
              </a:spcAft>
            </a:pPr>
            <a:r>
              <a:rPr sz="1600">
                <a:solidFill>
                  <a:srgbClr val="777777"/>
                </a:solidFill>
                <a:latin typeface="Calibri"/>
              </a:rPr>
              <a:t>▸ Fails the script's quality gate of ≥15% drop. No checkpoint saved.</a:t>
            </a:r>
          </a:p>
          <a:p>
            <a:pPr>
              <a:spcAft>
                <a:spcPts val="600"/>
              </a:spcAft>
            </a:pPr>
            <a:r>
              <a:rPr sz="1800">
                <a:solidFill>
                  <a:srgbClr val="222222"/>
                </a:solidFill>
                <a:latin typeface="Calibri"/>
              </a:rPr>
              <a:t>• Why: 60% of training trajectories never reach the goal → 60% of (z_t, z_g) pairs have invalid 'expert' targets.</a:t>
            </a:r>
          </a:p>
          <a:p>
            <a:pPr>
              <a:spcAft>
                <a:spcPts val="600"/>
              </a:spcAft>
            </a:pPr>
            <a:r>
              <a:rPr sz="1800">
                <a:solidFill>
                  <a:srgbClr val="222222"/>
                </a:solidFill>
                <a:latin typeface="Calibri"/>
              </a:rPr>
              <a:t>• Asymptote guarantee predicts: when σ_p is uniformly large, PRISM ≡ vanilla MPPI.</a:t>
            </a:r>
          </a:p>
          <a:p>
            <a:pPr>
              <a:spcAft>
                <a:spcPts val="600"/>
              </a:spcAft>
            </a:pPr>
            <a:r>
              <a:rPr sz="1800">
                <a:solidFill>
                  <a:srgbClr val="222222"/>
                </a:solidFill>
                <a:latin typeface="Calibri"/>
              </a:rPr>
              <a:t>• The framework correctly degrades. Tworoom is a paper-positive finding, not a regression.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515600" y="6400800"/>
            <a:ext cx="1828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 i="0">
                <a:solidFill>
                  <a:srgbClr val="777777"/>
                </a:solidFill>
                <a:latin typeface="Calibri"/>
              </a:rPr>
              <a:t>PRISM-JEPA  •  38 / 48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28600"/>
            <a:ext cx="1152144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800" b="1" i="0">
                <a:solidFill>
                  <a:srgbClr val="1F4E79"/>
                </a:solidFill>
                <a:latin typeface="Calibri"/>
              </a:rPr>
              <a:t>Same-wall-clock comparison vs CEM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188720"/>
            <a:ext cx="1133856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700">
                <a:solidFill>
                  <a:srgbClr val="222222"/>
                </a:solidFill>
                <a:latin typeface="Calibri"/>
              </a:rPr>
              <a:t>• PRISM-MPPI (N=1200, 4× compute) vs CEM-warm-start (N=300, ~4× more cycles per sample):</a:t>
            </a:r>
          </a:p>
          <a:p>
            <a:pPr lvl="1">
              <a:spcAft>
                <a:spcPts val="600"/>
              </a:spcAft>
            </a:pPr>
            <a:r>
              <a:rPr sz="1500">
                <a:solidFill>
                  <a:srgbClr val="777777"/>
                </a:solidFill>
                <a:latin typeface="Calibri"/>
              </a:rPr>
              <a:t>▸ Cube: PRISM-MPPI 80.7 ± 3.1 %  vs  CEM-warm-start 81.3 ± ?  →  Δ = −0.7 ± 3.1 pp,  p ≈ 0.74</a:t>
            </a:r>
          </a:p>
          <a:p>
            <a:pPr lvl="1">
              <a:spcAft>
                <a:spcPts val="600"/>
              </a:spcAft>
            </a:pPr>
            <a:r>
              <a:rPr sz="1500">
                <a:solidFill>
                  <a:srgbClr val="777777"/>
                </a:solidFill>
                <a:latin typeface="Calibri"/>
              </a:rPr>
              <a:t>▸ Within noise — PRISM-MPPI matches CEM at equal wall-clock on Cube.</a:t>
            </a:r>
          </a:p>
          <a:p>
            <a:pPr lvl="1">
              <a:spcAft>
                <a:spcPts val="600"/>
              </a:spcAft>
            </a:pPr>
            <a:r>
              <a:rPr sz="1500">
                <a:solidFill>
                  <a:srgbClr val="777777"/>
                </a:solidFill>
                <a:latin typeface="Calibri"/>
              </a:rPr>
              <a:t>▸ PushT: CEM-warm-start sustains a +12.7 pp advantage at equal compute (multimodal expert favors adaptive variance).</a:t>
            </a:r>
          </a:p>
          <a:p>
            <a:pPr>
              <a:spcAft>
                <a:spcPts val="600"/>
              </a:spcAft>
            </a:pPr>
            <a:r>
              <a:rPr sz="1700">
                <a:solidFill>
                  <a:srgbClr val="222222"/>
                </a:solidFill>
                <a:latin typeface="Calibri"/>
              </a:rPr>
              <a:t>• Paper framing:  'PRISM-MPPI matches CEM-quality at MPPI compute speed.'</a:t>
            </a:r>
          </a:p>
          <a:p>
            <a:pPr>
              <a:spcAft>
                <a:spcPts val="600"/>
              </a:spcAft>
            </a:pPr>
            <a:r>
              <a:rPr sz="1700">
                <a:solidFill>
                  <a:srgbClr val="222222"/>
                </a:solidFill>
                <a:latin typeface="Calibri"/>
              </a:rPr>
              <a:t>• We do NOT claim PRISM beats CEM in absolute terms — CEM's adaptive σ partially absorbs the role of σ_p.</a:t>
            </a:r>
          </a:p>
          <a:p>
            <a:pPr>
              <a:spcAft>
                <a:spcPts val="600"/>
              </a:spcAft>
            </a:pPr>
            <a:r>
              <a:rPr sz="1700">
                <a:solidFill>
                  <a:srgbClr val="222222"/>
                </a:solidFill>
                <a:latin typeface="Calibri"/>
              </a:rPr>
              <a:t>• PRISM is the cleanest setting for fixed-σ MPPI, which has its own deployment merits (predictable compute).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515600" y="6400800"/>
            <a:ext cx="1828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 i="0">
                <a:solidFill>
                  <a:srgbClr val="777777"/>
                </a:solidFill>
                <a:latin typeface="Calibri"/>
              </a:rPr>
              <a:t>PRISM-JEPA  •  39 / 48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28600"/>
            <a:ext cx="1152144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800" b="1" i="0">
                <a:solidFill>
                  <a:srgbClr val="1F4E79"/>
                </a:solidFill>
                <a:latin typeface="Calibri"/>
              </a:rPr>
              <a:t>Aside — is the head memorizing the training set?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188720"/>
            <a:ext cx="1133856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800">
                <a:solidFill>
                  <a:srgbClr val="222222"/>
                </a:solidFill>
                <a:latin typeface="Calibri"/>
              </a:rPr>
              <a:t>• Concern: ~90% of eval episodes are in the head's training set (we audit this).</a:t>
            </a:r>
          </a:p>
          <a:p>
            <a:pPr>
              <a:spcAft>
                <a:spcPts val="600"/>
              </a:spcAft>
            </a:pPr>
            <a:r>
              <a:rPr sz="1800">
                <a:solidFill>
                  <a:srgbClr val="222222"/>
                </a:solidFill>
                <a:latin typeface="Calibri"/>
              </a:rPr>
              <a:t>• Counter-argument from BC-only numbers:</a:t>
            </a:r>
          </a:p>
          <a:p>
            <a:pPr lvl="1">
              <a:spcAft>
                <a:spcPts val="600"/>
              </a:spcAft>
            </a:pPr>
            <a:r>
              <a:rPr sz="1600">
                <a:solidFill>
                  <a:srgbClr val="777777"/>
                </a:solidFill>
                <a:latin typeface="Calibri"/>
              </a:rPr>
              <a:t>▸ Cube BC-only = 66% on a 100% expert dataset.  If memorizing, BC-only would be ~100%.</a:t>
            </a:r>
          </a:p>
          <a:p>
            <a:pPr lvl="1">
              <a:spcAft>
                <a:spcPts val="600"/>
              </a:spcAft>
            </a:pPr>
            <a:r>
              <a:rPr sz="1600">
                <a:solidFill>
                  <a:srgbClr val="777777"/>
                </a:solidFill>
                <a:latin typeface="Calibri"/>
              </a:rPr>
              <a:t>▸ PushT BC-only = 31% on a 99.5% expert dataset.  If memorizing, BC-only would be ~99%.</a:t>
            </a:r>
          </a:p>
          <a:p>
            <a:pPr>
              <a:spcAft>
                <a:spcPts val="600"/>
              </a:spcAft>
            </a:pPr>
            <a:r>
              <a:rPr sz="1800">
                <a:solidFill>
                  <a:srgbClr val="222222"/>
                </a:solidFill>
                <a:latin typeface="Calibri"/>
              </a:rPr>
              <a:t>• These are exactly the failure modes of a generalizing-but-imperfect prior.</a:t>
            </a:r>
          </a:p>
          <a:p>
            <a:pPr>
              <a:spcAft>
                <a:spcPts val="600"/>
              </a:spcAft>
            </a:pPr>
            <a:r>
              <a:rPr sz="1800">
                <a:solidFill>
                  <a:srgbClr val="222222"/>
                </a:solidFill>
                <a:latin typeface="Calibri"/>
              </a:rPr>
              <a:t>• PRISM's gain comes from the planner correcting an imperfect prior using the world model — not lookup.</a:t>
            </a:r>
          </a:p>
          <a:p>
            <a:pPr>
              <a:spcAft>
                <a:spcPts val="600"/>
              </a:spcAft>
            </a:pPr>
            <a:r>
              <a:rPr sz="1800">
                <a:solidFill>
                  <a:srgbClr val="222222"/>
                </a:solidFill>
                <a:latin typeface="Calibri"/>
              </a:rPr>
              <a:t>• We will run a held-out-only ablation as a sanity check before camera-ready.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515600" y="6400800"/>
            <a:ext cx="1828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 i="0">
                <a:solidFill>
                  <a:srgbClr val="777777"/>
                </a:solidFill>
                <a:latin typeface="Calibri"/>
              </a:rPr>
              <a:t>PRISM-JEPA  •  40 / 48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468880"/>
            <a:ext cx="10972800" cy="1828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0">
                <a:solidFill>
                  <a:srgbClr val="FFFFFF"/>
                </a:solidFill>
              </a:rPr>
              <a:t>§6</a:t>
            </a:r>
          </a:p>
          <a:p>
            <a:r>
              <a:rPr sz="5400" b="1">
                <a:solidFill>
                  <a:srgbClr val="FFFFFF"/>
                </a:solidFill>
              </a:rPr>
              <a:t>Real-Robot Deployment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515600" y="6400800"/>
            <a:ext cx="1828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 i="0">
                <a:solidFill>
                  <a:srgbClr val="777777"/>
                </a:solidFill>
                <a:latin typeface="Calibri"/>
              </a:rPr>
              <a:t>PRISM-JEPA  •  41 / 48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28600"/>
            <a:ext cx="1152144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800" b="1" i="0">
                <a:solidFill>
                  <a:srgbClr val="1F4E79"/>
                </a:solidFill>
                <a:latin typeface="Calibri"/>
              </a:rPr>
              <a:t>Real-robot architecture — three machines</a:t>
            </a:r>
          </a:p>
        </p:txBody>
      </p:sp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188720"/>
            <a:ext cx="11612880" cy="4023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5212080"/>
            <a:ext cx="1133856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222"/>
                </a:solidFill>
                <a:latin typeface="Calibri"/>
              </a:rPr>
              <a:t>• Our workstation = ROS client.  Lab control PC = real-time torque generation.  Franka = hardware.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0" y="6400800"/>
            <a:ext cx="1828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 i="0">
                <a:solidFill>
                  <a:srgbClr val="777777"/>
                </a:solidFill>
                <a:latin typeface="Calibri"/>
              </a:rPr>
              <a:t>PRISM-JEPA  •  42 / 48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28600"/>
            <a:ext cx="1152144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800" b="1" i="0">
                <a:solidFill>
                  <a:srgbClr val="1F4E79"/>
                </a:solidFill>
                <a:latin typeface="Calibri"/>
              </a:rPr>
              <a:t>ROS communication — verified today</a:t>
            </a:r>
          </a:p>
        </p:txBody>
      </p:sp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0" y="1188720"/>
            <a:ext cx="7315200" cy="384048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5120640"/>
            <a:ext cx="1133856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400">
                <a:solidFill>
                  <a:srgbClr val="222222"/>
                </a:solidFill>
                <a:latin typeface="Calibri"/>
              </a:rPr>
              <a:t>• All read-side layers verified end-to-end with real Franka data (30 Hz, 0 dropped).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222222"/>
                </a:solidFill>
                <a:latin typeface="Calibri"/>
              </a:rPr>
              <a:t>• Publish path intentionally not implemented — needs Xiao Hu's franka_run.py + ErrorRecoveryAction client first.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0" y="6400800"/>
            <a:ext cx="1828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 i="0">
                <a:solidFill>
                  <a:srgbClr val="777777"/>
                </a:solidFill>
                <a:latin typeface="Calibri"/>
              </a:rPr>
              <a:t>PRISM-JEPA  •  43 / 48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28600"/>
            <a:ext cx="1152144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800" b="1" i="0">
                <a:solidFill>
                  <a:srgbClr val="1F4E79"/>
                </a:solidFill>
                <a:latin typeface="Calibri"/>
              </a:rPr>
              <a:t>Real-robot — what remains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188720"/>
            <a:ext cx="1133856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800">
                <a:solidFill>
                  <a:srgbClr val="222222"/>
                </a:solidFill>
                <a:latin typeface="Calibri"/>
              </a:rPr>
              <a:t>• Receive Xiao Hu's keyboard-control reference script (franka_run.py).</a:t>
            </a:r>
          </a:p>
          <a:p>
            <a:pPr>
              <a:spcAft>
                <a:spcPts val="600"/>
              </a:spcAft>
            </a:pPr>
            <a:r>
              <a:rPr sz="1800">
                <a:solidFill>
                  <a:srgbClr val="222222"/>
                </a:solidFill>
                <a:latin typeface="Calibri"/>
              </a:rPr>
              <a:t>• Implement publisher to /cartesian_impedance_example_controller/equilibrium_pose.</a:t>
            </a:r>
          </a:p>
          <a:p>
            <a:pPr>
              <a:spcAft>
                <a:spcPts val="600"/>
              </a:spcAft>
            </a:pPr>
            <a:r>
              <a:rPr sz="1800">
                <a:solidFill>
                  <a:srgbClr val="222222"/>
                </a:solidFill>
                <a:latin typeface="Calibri"/>
              </a:rPr>
              <a:t>• Implement ErrorRecoveryAction client (mandatory for any robot-side error).</a:t>
            </a:r>
          </a:p>
          <a:p>
            <a:pPr>
              <a:spcAft>
                <a:spcPts val="600"/>
              </a:spcAft>
            </a:pPr>
            <a:r>
              <a:rPr sz="1800">
                <a:solidFill>
                  <a:srgbClr val="222222"/>
                </a:solidFill>
                <a:latin typeface="Calibri"/>
              </a:rPr>
              <a:t>• Confirm camera ROS topic for RGB observation feeding JEPA.</a:t>
            </a:r>
          </a:p>
          <a:p>
            <a:pPr>
              <a:spcAft>
                <a:spcPts val="600"/>
              </a:spcAft>
            </a:pPr>
            <a:r>
              <a:rPr sz="1800">
                <a:solidFill>
                  <a:srgbClr val="222222"/>
                </a:solidFill>
                <a:latin typeface="Calibri"/>
              </a:rPr>
              <a:t>• Collect ~200 real teleop demos for re-training JEPA + world model + prior head on real data.</a:t>
            </a:r>
          </a:p>
          <a:p>
            <a:pPr lvl="1">
              <a:spcAft>
                <a:spcPts val="600"/>
              </a:spcAft>
            </a:pPr>
            <a:r>
              <a:rPr sz="1600">
                <a:solidFill>
                  <a:srgbClr val="777777"/>
                </a:solidFill>
                <a:latin typeface="Calibri"/>
              </a:rPr>
              <a:t>▸ Sim-trained JEPA will not transfer to real Franka pixels.</a:t>
            </a:r>
          </a:p>
          <a:p>
            <a:pPr lvl="1">
              <a:spcAft>
                <a:spcPts val="600"/>
              </a:spcAft>
            </a:pPr>
            <a:r>
              <a:rPr sz="1600">
                <a:solidFill>
                  <a:srgbClr val="777777"/>
                </a:solidFill>
                <a:latin typeface="Calibri"/>
              </a:rPr>
              <a:t>▸ Estimated effort: 1 week demo collection + 1 day re-training + 2 days eval.</a:t>
            </a:r>
          </a:p>
          <a:p>
            <a:pPr>
              <a:spcAft>
                <a:spcPts val="600"/>
              </a:spcAft>
            </a:pPr>
            <a:r>
              <a:rPr sz="1800">
                <a:solidFill>
                  <a:srgbClr val="222222"/>
                </a:solidFill>
                <a:latin typeface="Calibri"/>
              </a:rPr>
              <a:t>• First closed-loop hello-world target: 3-5 days from receiving Xiao Hu's script.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515600" y="6400800"/>
            <a:ext cx="1828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 i="0">
                <a:solidFill>
                  <a:srgbClr val="777777"/>
                </a:solidFill>
                <a:latin typeface="Calibri"/>
              </a:rPr>
              <a:t>PRISM-JEPA  •  44 / 48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468880"/>
            <a:ext cx="10972800" cy="1828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0">
                <a:solidFill>
                  <a:srgbClr val="FFFFFF"/>
                </a:solidFill>
              </a:rPr>
              <a:t>§7</a:t>
            </a:r>
          </a:p>
          <a:p>
            <a:r>
              <a:rPr sz="5400" b="1">
                <a:solidFill>
                  <a:srgbClr val="FFFFFF"/>
                </a:solidFill>
              </a:rPr>
              <a:t>Conclusion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515600" y="6400800"/>
            <a:ext cx="1828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 i="0">
                <a:solidFill>
                  <a:srgbClr val="777777"/>
                </a:solidFill>
                <a:latin typeface="Calibri"/>
              </a:rPr>
              <a:t>PRISM-JEPA  •  45 / 48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28600"/>
            <a:ext cx="1152144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800" b="1" i="0">
                <a:solidFill>
                  <a:srgbClr val="1F4E79"/>
                </a:solidFill>
                <a:latin typeface="Calibri"/>
              </a:rPr>
              <a:t>Summary — what we showed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188720"/>
            <a:ext cx="1133856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800">
                <a:solidFill>
                  <a:srgbClr val="222222"/>
                </a:solidFill>
                <a:latin typeface="Calibri"/>
              </a:rPr>
              <a:t>• PRISM-MPPI: closed-form, precision-weighted Gaussian fusion of a learned action prior into MPPI's seed.</a:t>
            </a:r>
          </a:p>
          <a:p>
            <a:pPr>
              <a:spcAft>
                <a:spcPts val="600"/>
              </a:spcAft>
            </a:pPr>
            <a:r>
              <a:rPr sz="1800">
                <a:solidFill>
                  <a:srgbClr val="222222"/>
                </a:solidFill>
                <a:latin typeface="Calibri"/>
              </a:rPr>
              <a:t>• Three structural properties: per-state precision weighting, asymptote guarantee, parameter-free.</a:t>
            </a:r>
          </a:p>
          <a:p>
            <a:pPr>
              <a:spcAft>
                <a:spcPts val="600"/>
              </a:spcAft>
            </a:pPr>
            <a:r>
              <a:rPr sz="1800">
                <a:solidFill>
                  <a:srgbClr val="222222"/>
                </a:solidFill>
                <a:latin typeface="Calibri"/>
              </a:rPr>
              <a:t>• +30.7 pp on Cube and +20.7 pp on PushT over vanilla MPPI.</a:t>
            </a:r>
          </a:p>
          <a:p>
            <a:pPr>
              <a:spcAft>
                <a:spcPts val="600"/>
              </a:spcAft>
            </a:pPr>
            <a:r>
              <a:rPr sz="1800">
                <a:solidFill>
                  <a:srgbClr val="222222"/>
                </a:solidFill>
                <a:latin typeface="Calibri"/>
              </a:rPr>
              <a:t>• Regime asymmetry — warm-start ≈ PRISM when prior is good, but only PRISM survives when prior μ is bad.</a:t>
            </a:r>
          </a:p>
          <a:p>
            <a:pPr>
              <a:spcAft>
                <a:spcPts val="600"/>
              </a:spcAft>
            </a:pPr>
            <a:r>
              <a:rPr sz="1800">
                <a:solidFill>
                  <a:srgbClr val="222222"/>
                </a:solidFill>
                <a:latin typeface="Calibri"/>
              </a:rPr>
              <a:t>• Tworoom: graceful degradation when the prior cannot learn, exactly as the asymptote guarantees.</a:t>
            </a:r>
          </a:p>
          <a:p>
            <a:pPr>
              <a:spcAft>
                <a:spcPts val="600"/>
              </a:spcAft>
            </a:pPr>
            <a:r>
              <a:rPr sz="1800">
                <a:solidFill>
                  <a:srgbClr val="222222"/>
                </a:solidFill>
                <a:latin typeface="Calibri"/>
              </a:rPr>
              <a:t>• Real-robot Franka deployment underway — ROS read path verified today; publisher pending.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515600" y="6400800"/>
            <a:ext cx="1828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 i="0">
                <a:solidFill>
                  <a:srgbClr val="777777"/>
                </a:solidFill>
                <a:latin typeface="Calibri"/>
              </a:rPr>
              <a:t>PRISM-JEPA  •  46 / 48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28600"/>
            <a:ext cx="1152144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800" b="1" i="0">
                <a:solidFill>
                  <a:srgbClr val="1F4E79"/>
                </a:solidFill>
                <a:latin typeface="Calibri"/>
              </a:rPr>
              <a:t>Limitations and future work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188720"/>
            <a:ext cx="1133856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700">
                <a:solidFill>
                  <a:srgbClr val="222222"/>
                </a:solidFill>
                <a:latin typeface="Calibri"/>
              </a:rPr>
              <a:t>• Limitations</a:t>
            </a:r>
          </a:p>
          <a:p>
            <a:pPr lvl="1">
              <a:spcAft>
                <a:spcPts val="600"/>
              </a:spcAft>
            </a:pPr>
            <a:r>
              <a:rPr sz="1500">
                <a:solidFill>
                  <a:srgbClr val="777777"/>
                </a:solidFill>
                <a:latin typeface="Calibri"/>
              </a:rPr>
              <a:t>▸ Demo quality below ~50% success rate yields no useful prior (Tworoom).</a:t>
            </a:r>
          </a:p>
          <a:p>
            <a:pPr lvl="1">
              <a:spcAft>
                <a:spcPts val="600"/>
              </a:spcAft>
            </a:pPr>
            <a:r>
              <a:rPr sz="1500">
                <a:solidFill>
                  <a:srgbClr val="777777"/>
                </a:solidFill>
                <a:latin typeface="Calibri"/>
              </a:rPr>
              <a:t>▸ Unimodal Gaussian head under-fits truly multimodal experts (PushT) — ceiling exists but PoG still helps.</a:t>
            </a:r>
          </a:p>
          <a:p>
            <a:pPr lvl="1">
              <a:spcAft>
                <a:spcPts val="600"/>
              </a:spcAft>
            </a:pPr>
            <a:r>
              <a:rPr sz="1500">
                <a:solidFill>
                  <a:srgbClr val="777777"/>
                </a:solidFill>
                <a:latin typeface="Calibri"/>
              </a:rPr>
              <a:t>▸ Currently MPPI-only; CEM's adaptive σ partially absorbs PoG's contribution.</a:t>
            </a:r>
          </a:p>
          <a:p>
            <a:pPr lvl="1">
              <a:spcAft>
                <a:spcPts val="600"/>
              </a:spcAft>
            </a:pPr>
            <a:r>
              <a:rPr sz="1500">
                <a:solidFill>
                  <a:srgbClr val="777777"/>
                </a:solidFill>
                <a:latin typeface="Calibri"/>
              </a:rPr>
              <a:t>▸ Sim only at the moment; real-robot in progress.</a:t>
            </a:r>
          </a:p>
          <a:p>
            <a:pPr>
              <a:spcAft>
                <a:spcPts val="600"/>
              </a:spcAft>
            </a:pPr>
            <a:r>
              <a:rPr sz="1700">
                <a:solidFill>
                  <a:srgbClr val="222222"/>
                </a:solidFill>
                <a:latin typeface="Calibri"/>
              </a:rPr>
              <a:t>• Future work</a:t>
            </a:r>
          </a:p>
          <a:p>
            <a:pPr lvl="1">
              <a:spcAft>
                <a:spcPts val="600"/>
              </a:spcAft>
            </a:pPr>
            <a:r>
              <a:rPr sz="1500">
                <a:solidFill>
                  <a:srgbClr val="777777"/>
                </a:solidFill>
                <a:latin typeface="Calibri"/>
              </a:rPr>
              <a:t>▸ Mixture-of-Gaussians prior head — lifts the PushT ceiling.</a:t>
            </a:r>
          </a:p>
          <a:p>
            <a:pPr lvl="1">
              <a:spcAft>
                <a:spcPts val="600"/>
              </a:spcAft>
            </a:pPr>
            <a:r>
              <a:rPr sz="1500">
                <a:solidFill>
                  <a:srgbClr val="777777"/>
                </a:solidFill>
                <a:latin typeface="Calibri"/>
              </a:rPr>
              <a:t>▸ VLM-derived priors plugged into the same PoG fusion (sister Newt-PRISM project).</a:t>
            </a:r>
          </a:p>
          <a:p>
            <a:pPr lvl="1">
              <a:spcAft>
                <a:spcPts val="600"/>
              </a:spcAft>
            </a:pPr>
            <a:r>
              <a:rPr sz="1500">
                <a:solidFill>
                  <a:srgbClr val="777777"/>
                </a:solidFill>
                <a:latin typeface="Calibri"/>
              </a:rPr>
              <a:t>▸ Cross-domain generalization — DINOv2 / V-JEPA-2 encoders without re-training.</a:t>
            </a:r>
          </a:p>
          <a:p>
            <a:pPr lvl="1">
              <a:spcAft>
                <a:spcPts val="600"/>
              </a:spcAft>
            </a:pPr>
            <a:r>
              <a:rPr sz="1500">
                <a:solidFill>
                  <a:srgbClr val="777777"/>
                </a:solidFill>
                <a:latin typeface="Calibri"/>
              </a:rPr>
              <a:t>▸ CEM-PRISM extension once the MPPI story is published.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515600" y="6400800"/>
            <a:ext cx="1828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 i="0">
                <a:solidFill>
                  <a:srgbClr val="777777"/>
                </a:solidFill>
                <a:latin typeface="Calibri"/>
              </a:rPr>
              <a:t>PRISM-JEPA  •  47 / 48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286000"/>
            <a:ext cx="10058400" cy="2743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7200" b="1">
                <a:solidFill>
                  <a:srgbClr val="FFFFFF"/>
                </a:solidFill>
              </a:rPr>
              <a:t>Thank you</a:t>
            </a:r>
          </a:p>
          <a:p>
            <a:r>
              <a:rPr sz="2800">
                <a:solidFill>
                  <a:srgbClr val="FFFFFF"/>
                </a:solidFill>
              </a:rPr>
              <a:t>Questions and discussion welcome</a:t>
            </a:r>
          </a:p>
          <a:p>
            <a:pPr>
              <a:spcBef>
                <a:spcPts val="4000"/>
              </a:spcBef>
            </a:pPr>
            <a:r>
              <a:rPr sz="1600">
                <a:solidFill>
                  <a:srgbClr val="F0F3F7"/>
                </a:solidFill>
              </a:rPr>
              <a:t>PRISM-JEPA   •   Northeastern University   •   Yuhai Wang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